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14"/>
  </p:notesMasterIdLst>
  <p:sldIdLst>
    <p:sldId id="347" r:id="rId2"/>
    <p:sldId id="257" r:id="rId3"/>
    <p:sldId id="345" r:id="rId4"/>
    <p:sldId id="329" r:id="rId5"/>
    <p:sldId id="332" r:id="rId6"/>
    <p:sldId id="331" r:id="rId7"/>
    <p:sldId id="317" r:id="rId8"/>
    <p:sldId id="337" r:id="rId9"/>
    <p:sldId id="348" r:id="rId10"/>
    <p:sldId id="344" r:id="rId11"/>
    <p:sldId id="339" r:id="rId12"/>
    <p:sldId id="32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8" autoAdjust="0"/>
    <p:restoredTop sz="95388" autoAdjust="0"/>
  </p:normalViewPr>
  <p:slideViewPr>
    <p:cSldViewPr snapToGrid="0">
      <p:cViewPr varScale="1">
        <p:scale>
          <a:sx n="81" d="100"/>
          <a:sy n="81" d="100"/>
        </p:scale>
        <p:origin x="451"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6C08D-6F8F-4F87-8C40-A6FF9FFC8EFF}" type="datetimeFigureOut">
              <a:rPr lang="en-IN" smtClean="0"/>
              <a:pPr/>
              <a:t>27-04-2025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EF408C-C2A5-4865-97DF-F266BB87E2BE}" type="slidenum">
              <a:rPr lang="en-IN" smtClean="0"/>
              <a:pPr/>
              <a:t>‹#›</a:t>
            </a:fld>
            <a:endParaRPr lang="en-IN"/>
          </a:p>
        </p:txBody>
      </p:sp>
    </p:spTree>
    <p:extLst>
      <p:ext uri="{BB962C8B-B14F-4D97-AF65-F5344CB8AC3E}">
        <p14:creationId xmlns:p14="http://schemas.microsoft.com/office/powerpoint/2010/main" val="728594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EF408C-C2A5-4865-97DF-F266BB87E2BE}" type="slidenum">
              <a:rPr lang="en-IN" smtClean="0"/>
              <a:pPr/>
              <a:t>1</a:t>
            </a:fld>
            <a:endParaRPr lang="en-IN"/>
          </a:p>
        </p:txBody>
      </p:sp>
    </p:spTree>
    <p:extLst>
      <p:ext uri="{BB962C8B-B14F-4D97-AF65-F5344CB8AC3E}">
        <p14:creationId xmlns:p14="http://schemas.microsoft.com/office/powerpoint/2010/main" val="3702707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EF408C-C2A5-4865-97DF-F266BB87E2BE}" type="slidenum">
              <a:rPr lang="en-IN" smtClean="0"/>
              <a:pPr/>
              <a:t>3</a:t>
            </a:fld>
            <a:endParaRPr lang="en-IN"/>
          </a:p>
        </p:txBody>
      </p:sp>
    </p:spTree>
    <p:extLst>
      <p:ext uri="{BB962C8B-B14F-4D97-AF65-F5344CB8AC3E}">
        <p14:creationId xmlns:p14="http://schemas.microsoft.com/office/powerpoint/2010/main" val="1870446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EF408C-C2A5-4865-97DF-F266BB87E2BE}" type="slidenum">
              <a:rPr lang="en-IN" smtClean="0"/>
              <a:pPr/>
              <a:t>4</a:t>
            </a:fld>
            <a:endParaRPr lang="en-IN"/>
          </a:p>
        </p:txBody>
      </p:sp>
    </p:spTree>
    <p:extLst>
      <p:ext uri="{BB962C8B-B14F-4D97-AF65-F5344CB8AC3E}">
        <p14:creationId xmlns:p14="http://schemas.microsoft.com/office/powerpoint/2010/main" val="1668568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EF408C-C2A5-4865-97DF-F266BB87E2BE}" type="slidenum">
              <a:rPr lang="en-IN" smtClean="0"/>
              <a:pPr/>
              <a:t>5</a:t>
            </a:fld>
            <a:endParaRPr lang="en-IN"/>
          </a:p>
        </p:txBody>
      </p:sp>
    </p:spTree>
    <p:extLst>
      <p:ext uri="{BB962C8B-B14F-4D97-AF65-F5344CB8AC3E}">
        <p14:creationId xmlns:p14="http://schemas.microsoft.com/office/powerpoint/2010/main" val="1358589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EF408C-C2A5-4865-97DF-F266BB87E2BE}" type="slidenum">
              <a:rPr lang="en-IN" smtClean="0"/>
              <a:pPr/>
              <a:t>6</a:t>
            </a:fld>
            <a:endParaRPr lang="en-IN"/>
          </a:p>
        </p:txBody>
      </p:sp>
    </p:spTree>
    <p:extLst>
      <p:ext uri="{BB962C8B-B14F-4D97-AF65-F5344CB8AC3E}">
        <p14:creationId xmlns:p14="http://schemas.microsoft.com/office/powerpoint/2010/main" val="3239262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2EF408C-C2A5-4865-97DF-F266BB87E2BE}" type="slidenum">
              <a:rPr lang="en-IN" smtClean="0"/>
              <a:pPr/>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24AA-20A4-4D1F-8ED0-7A3111AAD6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07A2CF-3B12-4A96-96B4-31198DDC60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9C355F-3874-4915-93CC-5F8A46BD1889}"/>
              </a:ext>
            </a:extLst>
          </p:cNvPr>
          <p:cNvSpPr>
            <a:spLocks noGrp="1"/>
          </p:cNvSpPr>
          <p:nvPr>
            <p:ph type="dt" sz="half" idx="10"/>
          </p:nvPr>
        </p:nvSpPr>
        <p:spPr/>
        <p:txBody>
          <a:bodyPr/>
          <a:lstStyle/>
          <a:p>
            <a:fld id="{FDF8BA39-E13F-4ECB-9002-063BC54468DE}" type="datetime1">
              <a:rPr lang="en-IN" smtClean="0"/>
              <a:pPr/>
              <a:t>27-04-2025</a:t>
            </a:fld>
            <a:endParaRPr lang="en-IN"/>
          </a:p>
        </p:txBody>
      </p:sp>
      <p:sp>
        <p:nvSpPr>
          <p:cNvPr id="5" name="Footer Placeholder 4">
            <a:extLst>
              <a:ext uri="{FF2B5EF4-FFF2-40B4-BE49-F238E27FC236}">
                <a16:creationId xmlns:a16="http://schemas.microsoft.com/office/drawing/2014/main" id="{730D1B27-167C-43D3-99A0-DEBD23D502C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6D154BC-0AE3-4E73-A18C-8B72D82A3019}"/>
              </a:ext>
            </a:extLst>
          </p:cNvPr>
          <p:cNvSpPr>
            <a:spLocks noGrp="1"/>
          </p:cNvSpPr>
          <p:nvPr>
            <p:ph type="sldNum" sz="quarter" idx="12"/>
          </p:nvPr>
        </p:nvSpPr>
        <p:spPr/>
        <p:txBody>
          <a:bodyPr/>
          <a:lstStyle/>
          <a:p>
            <a:fld id="{519541B7-B1C6-4F17-A135-F695ABEDC957}" type="slidenum">
              <a:rPr lang="en-IN" smtClean="0"/>
              <a:pPr/>
              <a:t>‹#›</a:t>
            </a:fld>
            <a:endParaRPr lang="en-IN" dirty="0"/>
          </a:p>
        </p:txBody>
      </p:sp>
    </p:spTree>
    <p:extLst>
      <p:ext uri="{BB962C8B-B14F-4D97-AF65-F5344CB8AC3E}">
        <p14:creationId xmlns:p14="http://schemas.microsoft.com/office/powerpoint/2010/main" val="430931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2248E-FE51-4E78-AF65-5E32AA1EFE51}"/>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4567E3-FB3D-4E9D-93AF-225B89DA18D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FE1D43EF-FD7B-41E4-BD41-1FA59787C191}"/>
              </a:ext>
            </a:extLst>
          </p:cNvPr>
          <p:cNvSpPr>
            <a:spLocks noGrp="1"/>
          </p:cNvSpPr>
          <p:nvPr>
            <p:ph type="dt" sz="half" idx="10"/>
          </p:nvPr>
        </p:nvSpPr>
        <p:spPr/>
        <p:txBody>
          <a:bodyPr/>
          <a:lstStyle/>
          <a:p>
            <a:fld id="{C1B35C4B-27CD-4C51-832C-8E7E84D9267A}" type="datetime1">
              <a:rPr lang="en-IN" smtClean="0"/>
              <a:pPr/>
              <a:t>27-04-2025</a:t>
            </a:fld>
            <a:endParaRPr lang="en-IN" dirty="0"/>
          </a:p>
        </p:txBody>
      </p:sp>
      <p:sp>
        <p:nvSpPr>
          <p:cNvPr id="5" name="Footer Placeholder 4">
            <a:extLst>
              <a:ext uri="{FF2B5EF4-FFF2-40B4-BE49-F238E27FC236}">
                <a16:creationId xmlns:a16="http://schemas.microsoft.com/office/drawing/2014/main" id="{E6A418CB-B419-4302-BE47-DF28AF3CA2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8724FF-4B79-4407-A4BB-CFE71DB726DF}"/>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102674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B504F-EC5D-4E5E-9012-96D6F89DFF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16DEBA-6F21-4FAD-818D-ADBA4024C2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9DC743-CBB5-4322-BFC4-3A1C35DDCBC6}"/>
              </a:ext>
            </a:extLst>
          </p:cNvPr>
          <p:cNvSpPr>
            <a:spLocks noGrp="1"/>
          </p:cNvSpPr>
          <p:nvPr>
            <p:ph type="dt" sz="half" idx="10"/>
          </p:nvPr>
        </p:nvSpPr>
        <p:spPr/>
        <p:txBody>
          <a:bodyPr/>
          <a:lstStyle/>
          <a:p>
            <a:fld id="{281413C4-D291-4F42-BB3D-9E73496F296B}" type="datetime1">
              <a:rPr lang="en-IN" smtClean="0"/>
              <a:pPr/>
              <a:t>27-04-2025</a:t>
            </a:fld>
            <a:endParaRPr lang="en-IN"/>
          </a:p>
        </p:txBody>
      </p:sp>
      <p:sp>
        <p:nvSpPr>
          <p:cNvPr id="5" name="Footer Placeholder 4">
            <a:extLst>
              <a:ext uri="{FF2B5EF4-FFF2-40B4-BE49-F238E27FC236}">
                <a16:creationId xmlns:a16="http://schemas.microsoft.com/office/drawing/2014/main" id="{11A5BA7C-DF6A-437E-AE11-3D773631C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2E7611-CCAC-4CDB-AF20-87A9466DD7E8}"/>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1502597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6DE75-E462-4346-9C5D-891980059E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BF357E-15BD-4B3F-A997-488A8E6062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C0DA0A-A910-4517-9E7C-AD9DDD5939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AE4F4F-3921-43EC-99CD-52239E5430EF}"/>
              </a:ext>
            </a:extLst>
          </p:cNvPr>
          <p:cNvSpPr>
            <a:spLocks noGrp="1"/>
          </p:cNvSpPr>
          <p:nvPr>
            <p:ph type="dt" sz="half" idx="10"/>
          </p:nvPr>
        </p:nvSpPr>
        <p:spPr/>
        <p:txBody>
          <a:bodyPr/>
          <a:lstStyle/>
          <a:p>
            <a:fld id="{4C32A976-E2E1-4660-88C8-D08F181D1794}" type="datetime1">
              <a:rPr lang="en-IN" smtClean="0"/>
              <a:pPr/>
              <a:t>27-04-2025</a:t>
            </a:fld>
            <a:endParaRPr lang="en-IN"/>
          </a:p>
        </p:txBody>
      </p:sp>
      <p:sp>
        <p:nvSpPr>
          <p:cNvPr id="6" name="Footer Placeholder 5">
            <a:extLst>
              <a:ext uri="{FF2B5EF4-FFF2-40B4-BE49-F238E27FC236}">
                <a16:creationId xmlns:a16="http://schemas.microsoft.com/office/drawing/2014/main" id="{4FCBC1E6-CC3C-48F7-A9AB-8C07C8CA6A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1ACF4F-23BD-4874-8528-AC72AFC4CBE8}"/>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3132047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B83B-9810-4EE3-821E-D22771B7B11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A878D7-0549-4EC8-A670-B0E23A781A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ACB5B-1987-423B-A584-101612682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E39B71-3803-4E1C-A8E2-A65E660465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9751BF-0D1C-4DE5-AA14-620D5577E1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30F162-420E-49DD-BE5F-1EA107D620FE}"/>
              </a:ext>
            </a:extLst>
          </p:cNvPr>
          <p:cNvSpPr>
            <a:spLocks noGrp="1"/>
          </p:cNvSpPr>
          <p:nvPr>
            <p:ph type="dt" sz="half" idx="10"/>
          </p:nvPr>
        </p:nvSpPr>
        <p:spPr/>
        <p:txBody>
          <a:bodyPr/>
          <a:lstStyle/>
          <a:p>
            <a:fld id="{CCBF6E9A-BD4B-4F06-B728-39930E394A60}" type="datetime1">
              <a:rPr lang="en-IN" smtClean="0"/>
              <a:pPr/>
              <a:t>27-04-2025</a:t>
            </a:fld>
            <a:endParaRPr lang="en-IN"/>
          </a:p>
        </p:txBody>
      </p:sp>
      <p:sp>
        <p:nvSpPr>
          <p:cNvPr id="8" name="Footer Placeholder 7">
            <a:extLst>
              <a:ext uri="{FF2B5EF4-FFF2-40B4-BE49-F238E27FC236}">
                <a16:creationId xmlns:a16="http://schemas.microsoft.com/office/drawing/2014/main" id="{22872CAE-5185-4C22-B5A4-BE5FBEDE752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BBB2E1-9CDB-49FF-8689-CE87E7F4CB9A}"/>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4249872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B054D-C4FC-478F-A46E-FAA8668768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DB2BED-D41E-4864-B8E0-0EA005880581}"/>
              </a:ext>
            </a:extLst>
          </p:cNvPr>
          <p:cNvSpPr>
            <a:spLocks noGrp="1"/>
          </p:cNvSpPr>
          <p:nvPr>
            <p:ph type="dt" sz="half" idx="10"/>
          </p:nvPr>
        </p:nvSpPr>
        <p:spPr/>
        <p:txBody>
          <a:bodyPr/>
          <a:lstStyle/>
          <a:p>
            <a:fld id="{F5416E1D-0697-4CAE-90AD-57E9C8F22C30}" type="datetime1">
              <a:rPr lang="en-IN" smtClean="0"/>
              <a:pPr/>
              <a:t>27-04-2025</a:t>
            </a:fld>
            <a:endParaRPr lang="en-IN"/>
          </a:p>
        </p:txBody>
      </p:sp>
      <p:sp>
        <p:nvSpPr>
          <p:cNvPr id="4" name="Footer Placeholder 3">
            <a:extLst>
              <a:ext uri="{FF2B5EF4-FFF2-40B4-BE49-F238E27FC236}">
                <a16:creationId xmlns:a16="http://schemas.microsoft.com/office/drawing/2014/main" id="{9BFFE7CA-1759-4F5F-A87D-1941820B02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3E47C4-70B7-4A3A-8AC2-A14CAD8C2BC7}"/>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4005855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75C942-3F37-4007-B490-5103E319DC8D}"/>
              </a:ext>
            </a:extLst>
          </p:cNvPr>
          <p:cNvSpPr>
            <a:spLocks noGrp="1"/>
          </p:cNvSpPr>
          <p:nvPr>
            <p:ph type="dt" sz="half" idx="10"/>
          </p:nvPr>
        </p:nvSpPr>
        <p:spPr/>
        <p:txBody>
          <a:bodyPr/>
          <a:lstStyle/>
          <a:p>
            <a:fld id="{FC01F1C5-5D77-41C5-B1F7-3E1A4A498481}" type="datetime1">
              <a:rPr lang="en-IN" smtClean="0"/>
              <a:pPr/>
              <a:t>27-04-2025</a:t>
            </a:fld>
            <a:endParaRPr lang="en-IN"/>
          </a:p>
        </p:txBody>
      </p:sp>
      <p:sp>
        <p:nvSpPr>
          <p:cNvPr id="3" name="Footer Placeholder 2">
            <a:extLst>
              <a:ext uri="{FF2B5EF4-FFF2-40B4-BE49-F238E27FC236}">
                <a16:creationId xmlns:a16="http://schemas.microsoft.com/office/drawing/2014/main" id="{EB83E2F9-AA9E-4024-9FA2-EFBFAA51AE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781D2D-B1FB-4040-8F2E-70A3A19E4D48}"/>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4179318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B8E5-B249-42D5-BD47-61FA359F73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B7E744-3A15-4195-88F6-9FEABB6755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778713-7DE4-4FA3-A43F-D9E861650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41A318-4428-4DCF-A567-1123AE278D97}"/>
              </a:ext>
            </a:extLst>
          </p:cNvPr>
          <p:cNvSpPr>
            <a:spLocks noGrp="1"/>
          </p:cNvSpPr>
          <p:nvPr>
            <p:ph type="dt" sz="half" idx="10"/>
          </p:nvPr>
        </p:nvSpPr>
        <p:spPr/>
        <p:txBody>
          <a:bodyPr/>
          <a:lstStyle/>
          <a:p>
            <a:fld id="{475470A8-6351-4C23-A27E-204AED583881}" type="datetime1">
              <a:rPr lang="en-IN" smtClean="0"/>
              <a:pPr/>
              <a:t>27-04-2025</a:t>
            </a:fld>
            <a:endParaRPr lang="en-IN"/>
          </a:p>
        </p:txBody>
      </p:sp>
      <p:sp>
        <p:nvSpPr>
          <p:cNvPr id="6" name="Footer Placeholder 5">
            <a:extLst>
              <a:ext uri="{FF2B5EF4-FFF2-40B4-BE49-F238E27FC236}">
                <a16:creationId xmlns:a16="http://schemas.microsoft.com/office/drawing/2014/main" id="{0CC7B4F4-2F0A-4277-B69D-96CE951132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07703C-71C2-4454-846B-8761146E5C7F}"/>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2301742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D045-0AFB-4B9D-A4E1-DF88A6DD0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4A4393-CFBA-4F73-B5D9-BE81420C83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EDF9E8-8BD4-45B8-AE15-5501514A6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E4F99-62AE-438D-9152-6CAE7BFD296F}"/>
              </a:ext>
            </a:extLst>
          </p:cNvPr>
          <p:cNvSpPr>
            <a:spLocks noGrp="1"/>
          </p:cNvSpPr>
          <p:nvPr>
            <p:ph type="dt" sz="half" idx="10"/>
          </p:nvPr>
        </p:nvSpPr>
        <p:spPr/>
        <p:txBody>
          <a:bodyPr/>
          <a:lstStyle/>
          <a:p>
            <a:fld id="{237599B0-EBA9-4676-89CB-6D3962F9C66D}" type="datetime1">
              <a:rPr lang="en-IN" smtClean="0"/>
              <a:pPr/>
              <a:t>27-04-2025</a:t>
            </a:fld>
            <a:endParaRPr lang="en-IN"/>
          </a:p>
        </p:txBody>
      </p:sp>
      <p:sp>
        <p:nvSpPr>
          <p:cNvPr id="6" name="Footer Placeholder 5">
            <a:extLst>
              <a:ext uri="{FF2B5EF4-FFF2-40B4-BE49-F238E27FC236}">
                <a16:creationId xmlns:a16="http://schemas.microsoft.com/office/drawing/2014/main" id="{9DEB8431-9178-4D1E-A640-703863EFBC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CE3AC9-7F6E-4D78-9BE1-85C37B9A0DD4}"/>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279875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CE032-E710-49B1-A679-15F2F747B3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1D00E9-9F24-45A3-BF13-BECB3C25A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444C08-51D2-4CAF-877C-3EA8E86D2109}"/>
              </a:ext>
            </a:extLst>
          </p:cNvPr>
          <p:cNvSpPr>
            <a:spLocks noGrp="1"/>
          </p:cNvSpPr>
          <p:nvPr>
            <p:ph type="dt" sz="half" idx="10"/>
          </p:nvPr>
        </p:nvSpPr>
        <p:spPr/>
        <p:txBody>
          <a:bodyPr/>
          <a:lstStyle/>
          <a:p>
            <a:fld id="{BC6DDD46-2315-4FF9-A54D-168A0C1F36ED}" type="datetime1">
              <a:rPr lang="en-IN" smtClean="0"/>
              <a:pPr/>
              <a:t>27-04-2025</a:t>
            </a:fld>
            <a:endParaRPr lang="en-IN"/>
          </a:p>
        </p:txBody>
      </p:sp>
      <p:sp>
        <p:nvSpPr>
          <p:cNvPr id="5" name="Footer Placeholder 4">
            <a:extLst>
              <a:ext uri="{FF2B5EF4-FFF2-40B4-BE49-F238E27FC236}">
                <a16:creationId xmlns:a16="http://schemas.microsoft.com/office/drawing/2014/main" id="{0576413D-D5F3-4F9A-B2B3-910582E59C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4CB4F1-AF49-4CA7-989E-5DF3586ADAF0}"/>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4140201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EF45C2-829D-4DEC-A8C6-AB61646BED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60CAB8-C5D3-43A2-B6A0-D1D8ECA1ED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335E27-49FC-4608-81EC-1B41C0ECC005}"/>
              </a:ext>
            </a:extLst>
          </p:cNvPr>
          <p:cNvSpPr>
            <a:spLocks noGrp="1"/>
          </p:cNvSpPr>
          <p:nvPr>
            <p:ph type="dt" sz="half" idx="10"/>
          </p:nvPr>
        </p:nvSpPr>
        <p:spPr/>
        <p:txBody>
          <a:bodyPr/>
          <a:lstStyle/>
          <a:p>
            <a:fld id="{166895EF-B03B-4EBC-8766-5FAE0344152F}" type="datetime1">
              <a:rPr lang="en-IN" smtClean="0"/>
              <a:pPr/>
              <a:t>27-04-2025</a:t>
            </a:fld>
            <a:endParaRPr lang="en-IN"/>
          </a:p>
        </p:txBody>
      </p:sp>
      <p:sp>
        <p:nvSpPr>
          <p:cNvPr id="5" name="Footer Placeholder 4">
            <a:extLst>
              <a:ext uri="{FF2B5EF4-FFF2-40B4-BE49-F238E27FC236}">
                <a16:creationId xmlns:a16="http://schemas.microsoft.com/office/drawing/2014/main" id="{3BB26DC9-B88B-4BDC-A40E-972BD20CD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F92FEA-C094-4A10-98B9-7896B57B15DE}"/>
              </a:ext>
            </a:extLst>
          </p:cNvPr>
          <p:cNvSpPr>
            <a:spLocks noGrp="1"/>
          </p:cNvSpPr>
          <p:nvPr>
            <p:ph type="sldNum" sz="quarter" idx="12"/>
          </p:nvPr>
        </p:nvSpPr>
        <p:spPr/>
        <p:txBody>
          <a:bodyPr/>
          <a:lstStyle/>
          <a:p>
            <a:fld id="{519541B7-B1C6-4F17-A135-F695ABEDC957}" type="slidenum">
              <a:rPr lang="en-IN" smtClean="0"/>
              <a:pPr/>
              <a:t>‹#›</a:t>
            </a:fld>
            <a:endParaRPr lang="en-IN"/>
          </a:p>
        </p:txBody>
      </p:sp>
    </p:spTree>
    <p:extLst>
      <p:ext uri="{BB962C8B-B14F-4D97-AF65-F5344CB8AC3E}">
        <p14:creationId xmlns:p14="http://schemas.microsoft.com/office/powerpoint/2010/main" val="663944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EEABF0-3297-4998-BDF4-577F0B6F54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EED061-4774-4BAF-A743-02B320DC87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5C63BA-B41F-4085-8CC0-E6FAA01430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7B4B55-F1BA-4E72-9BC3-C49AE6E9DA98}" type="datetime1">
              <a:rPr lang="en-IN" smtClean="0"/>
              <a:pPr/>
              <a:t>27-04-2025</a:t>
            </a:fld>
            <a:endParaRPr lang="en-IN"/>
          </a:p>
        </p:txBody>
      </p:sp>
      <p:sp>
        <p:nvSpPr>
          <p:cNvPr id="5" name="Footer Placeholder 4">
            <a:extLst>
              <a:ext uri="{FF2B5EF4-FFF2-40B4-BE49-F238E27FC236}">
                <a16:creationId xmlns:a16="http://schemas.microsoft.com/office/drawing/2014/main" id="{D5308881-E680-4186-824B-04D48E9B4B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66EDC9-B640-4EA2-A22E-6E06851C16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9541B7-B1C6-4F17-A135-F695ABEDC957}" type="slidenum">
              <a:rPr lang="en-IN" smtClean="0"/>
              <a:pPr/>
              <a:t>‹#›</a:t>
            </a:fld>
            <a:endParaRPr lang="en-IN"/>
          </a:p>
        </p:txBody>
      </p:sp>
    </p:spTree>
    <p:extLst>
      <p:ext uri="{BB962C8B-B14F-4D97-AF65-F5344CB8AC3E}">
        <p14:creationId xmlns:p14="http://schemas.microsoft.com/office/powerpoint/2010/main" val="1001565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txBox="1"/>
          <p:nvPr/>
        </p:nvSpPr>
        <p:spPr>
          <a:xfrm>
            <a:off x="35859" y="2636985"/>
            <a:ext cx="12192000" cy="17373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latin typeface="Times New Roman" panose="02020603050405020304" pitchFamily="18" charset="0"/>
                <a:cs typeface="Times New Roman" panose="02020603050405020304" pitchFamily="18" charset="0"/>
              </a:rPr>
              <a:t>AUTOMATED DOCUMENT PROCESSING WITH AWS TEXTRACT</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r>
              <a:rPr lang="en-IN" sz="3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kern="100" dirty="0">
                <a:effectLst/>
                <a:latin typeface="Times New Roman" panose="02020603050405020304" pitchFamily="18" charset="0"/>
                <a:ea typeface="Aptos" panose="020B0004020202020204" pitchFamily="34" charset="0"/>
                <a:cs typeface="Times New Roman" panose="02020603050405020304" pitchFamily="18" charset="0"/>
              </a:rPr>
              <a:t>(Extract text and data from scanned documents using AWS </a:t>
            </a:r>
            <a:r>
              <a:rPr lang="en-US" sz="2400" kern="100" dirty="0" err="1">
                <a:effectLst/>
                <a:latin typeface="Times New Roman" panose="02020603050405020304" pitchFamily="18" charset="0"/>
                <a:ea typeface="Aptos" panose="020B0004020202020204" pitchFamily="34" charset="0"/>
                <a:cs typeface="Times New Roman" panose="02020603050405020304" pitchFamily="18" charset="0"/>
              </a:rPr>
              <a:t>Textract</a:t>
            </a:r>
            <a:r>
              <a:rPr lang="en-US" sz="24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IN" sz="2400" dirty="0">
              <a:solidFill>
                <a:srgbClr val="002060"/>
              </a:solidFill>
              <a:latin typeface="Times New Roman" panose="02020603050405020304" pitchFamily="18" charset="0"/>
              <a:cs typeface="Times New Roman" pitchFamily="18" charset="0"/>
            </a:endParaRP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1048589" name="TextBox 15"/>
          <p:cNvSpPr txBox="1"/>
          <p:nvPr/>
        </p:nvSpPr>
        <p:spPr>
          <a:xfrm>
            <a:off x="5941325" y="4573447"/>
            <a:ext cx="6250675" cy="1015663"/>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Under the Guidance of</a:t>
            </a:r>
          </a:p>
          <a:p>
            <a:pPr algn="ctr"/>
            <a:r>
              <a:rPr lang="en-US" sz="2000" b="1" dirty="0" err="1">
                <a:latin typeface="Times New Roman" panose="02020603050405020304" pitchFamily="18" charset="0"/>
                <a:ea typeface="Times New Roman" panose="02020603050405020304" pitchFamily="18" charset="0"/>
                <a:cs typeface="Times New Roman" panose="02020603050405020304" pitchFamily="18" charset="0"/>
              </a:rPr>
              <a:t>Dr.M.Laxmaiah</a:t>
            </a:r>
            <a:endParaRPr 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ea typeface="Times New Roman" panose="02020603050405020304" pitchFamily="18" charset="0"/>
                <a:cs typeface="Times New Roman" panose="02020603050405020304" pitchFamily="18" charset="0"/>
              </a:rPr>
              <a:t>Head Of Department, Department of Data Science</a:t>
            </a:r>
          </a:p>
        </p:txBody>
      </p:sp>
      <p:sp>
        <p:nvSpPr>
          <p:cNvPr id="1048590" name="TextBox 1"/>
          <p:cNvSpPr txBox="1"/>
          <p:nvPr/>
        </p:nvSpPr>
        <p:spPr>
          <a:xfrm>
            <a:off x="618565" y="1898893"/>
            <a:ext cx="11026588"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itchFamily="18" charset="0"/>
              </a:rPr>
              <a:t>Department of Computer Science and Engineer - Data Science</a:t>
            </a:r>
          </a:p>
        </p:txBody>
      </p:sp>
      <p:sp>
        <p:nvSpPr>
          <p:cNvPr id="2" name="Footer Placeholder 1"/>
          <p:cNvSpPr>
            <a:spLocks noGrp="1"/>
          </p:cNvSpPr>
          <p:nvPr>
            <p:ph type="ftr" sz="quarter" idx="11"/>
          </p:nvPr>
        </p:nvSpPr>
        <p:spPr>
          <a:xfrm>
            <a:off x="-589152" y="6356350"/>
            <a:ext cx="4114800" cy="365125"/>
          </a:xfrm>
        </p:spPr>
        <p:txBody>
          <a:bodyPr/>
          <a:lstStyle/>
          <a:p>
            <a:r>
              <a:rPr lang="en-US" alt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11" name="image1.jpeg"/>
          <p:cNvPicPr/>
          <p:nvPr/>
        </p:nvPicPr>
        <p:blipFill>
          <a:blip r:embed="rId3" cstate="print"/>
          <a:srcRect/>
          <a:stretch>
            <a:fillRect/>
          </a:stretch>
        </p:blipFill>
        <p:spPr bwMode="auto">
          <a:xfrm>
            <a:off x="618565" y="268942"/>
            <a:ext cx="11026588" cy="1371600"/>
          </a:xfrm>
          <a:prstGeom prst="rect">
            <a:avLst/>
          </a:prstGeom>
          <a:noFill/>
          <a:ln w="9525">
            <a:noFill/>
            <a:miter lim="800000"/>
            <a:headEnd/>
            <a:tailEnd/>
          </a:ln>
        </p:spPr>
      </p:pic>
      <p:sp>
        <p:nvSpPr>
          <p:cNvPr id="5" name="TextBox 4">
            <a:extLst>
              <a:ext uri="{FF2B5EF4-FFF2-40B4-BE49-F238E27FC236}">
                <a16:creationId xmlns:a16="http://schemas.microsoft.com/office/drawing/2014/main" id="{BCA634F3-2D50-AF47-6151-24601C2942AB}"/>
              </a:ext>
            </a:extLst>
          </p:cNvPr>
          <p:cNvSpPr txBox="1"/>
          <p:nvPr/>
        </p:nvSpPr>
        <p:spPr>
          <a:xfrm>
            <a:off x="1076634" y="4413492"/>
            <a:ext cx="4596579" cy="1908215"/>
          </a:xfrm>
          <a:prstGeom prst="rect">
            <a:avLst/>
          </a:prstGeom>
          <a:noFill/>
        </p:spPr>
        <p:txBody>
          <a:bodyPr wrap="square">
            <a:spAutoFit/>
          </a:bodyPr>
          <a:lstStyle/>
          <a:p>
            <a:r>
              <a:rPr lang="pt-BR" sz="2000" b="1" dirty="0">
                <a:latin typeface="Aptos Display" panose="020B0004020202020204" pitchFamily="34" charset="0"/>
              </a:rPr>
              <a:t> </a:t>
            </a:r>
            <a:r>
              <a:rPr lang="pt-BR" sz="2000" b="1" dirty="0">
                <a:latin typeface="Times New Roman" panose="02020603050405020304" pitchFamily="18" charset="0"/>
                <a:cs typeface="Times New Roman" panose="02020603050405020304" pitchFamily="18" charset="0"/>
              </a:rPr>
              <a:t>                      </a:t>
            </a:r>
            <a:r>
              <a:rPr lang="pt-BR" sz="2000" b="1" u="sng" dirty="0">
                <a:latin typeface="Times New Roman" panose="02020603050405020304" pitchFamily="18" charset="0"/>
                <a:cs typeface="Times New Roman" panose="02020603050405020304" pitchFamily="18" charset="0"/>
              </a:rPr>
              <a:t>Batch No. 01</a:t>
            </a:r>
          </a:p>
          <a:p>
            <a:r>
              <a:rPr lang="pt-BR" sz="2000" dirty="0">
                <a:latin typeface="Times New Roman" panose="02020603050405020304" pitchFamily="18" charset="0"/>
                <a:cs typeface="Times New Roman" panose="02020603050405020304" pitchFamily="18" charset="0"/>
              </a:rPr>
              <a:t>1. K.Avinash                        228R1A67F6</a:t>
            </a:r>
            <a:br>
              <a:rPr lang="pt-BR" sz="2000" dirty="0">
                <a:latin typeface="Times New Roman" panose="02020603050405020304" pitchFamily="18" charset="0"/>
                <a:cs typeface="Times New Roman" panose="02020603050405020304" pitchFamily="18" charset="0"/>
              </a:rPr>
            </a:br>
            <a:r>
              <a:rPr lang="pt-BR" sz="2000" dirty="0">
                <a:latin typeface="Times New Roman" panose="02020603050405020304" pitchFamily="18" charset="0"/>
                <a:cs typeface="Times New Roman" panose="02020603050405020304" pitchFamily="18" charset="0"/>
              </a:rPr>
              <a:t>2. </a:t>
            </a:r>
            <a:r>
              <a:rPr lang="en-IN" sz="2000" dirty="0" err="1">
                <a:latin typeface="Times New Roman" panose="02020603050405020304" pitchFamily="18" charset="0"/>
                <a:cs typeface="Times New Roman" panose="02020603050405020304" pitchFamily="18" charset="0"/>
              </a:rPr>
              <a:t>P.Priyatham</a:t>
            </a:r>
            <a:r>
              <a:rPr lang="en-IN" sz="2000" dirty="0">
                <a:latin typeface="Times New Roman" panose="02020603050405020304" pitchFamily="18" charset="0"/>
                <a:cs typeface="Times New Roman" panose="02020603050405020304" pitchFamily="18" charset="0"/>
              </a:rPr>
              <a:t>                      238R5A6716</a:t>
            </a:r>
          </a:p>
          <a:p>
            <a:r>
              <a:rPr lang="en-IN" sz="2000" dirty="0">
                <a:latin typeface="Times New Roman" panose="02020603050405020304" pitchFamily="18" charset="0"/>
                <a:cs typeface="Times New Roman" panose="02020603050405020304" pitchFamily="18" charset="0"/>
              </a:rPr>
              <a:t>3. </a:t>
            </a:r>
            <a:r>
              <a:rPr lang="en-IN" sz="2000" dirty="0" err="1">
                <a:latin typeface="Times New Roman" panose="02020603050405020304" pitchFamily="18" charset="0"/>
                <a:cs typeface="Times New Roman" panose="02020603050405020304" pitchFamily="18" charset="0"/>
              </a:rPr>
              <a:t>U.Uday</a:t>
            </a:r>
            <a:r>
              <a:rPr lang="en-IN" sz="2000" dirty="0">
                <a:latin typeface="Times New Roman" panose="02020603050405020304" pitchFamily="18" charset="0"/>
                <a:cs typeface="Times New Roman" panose="02020603050405020304" pitchFamily="18" charset="0"/>
              </a:rPr>
              <a:t> Kiran                  228R1A67J7</a:t>
            </a:r>
          </a:p>
          <a:p>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D.Nithish</a:t>
            </a:r>
            <a:r>
              <a:rPr lang="en-IN" sz="2000" dirty="0">
                <a:latin typeface="Times New Roman" panose="02020603050405020304" pitchFamily="18" charset="0"/>
                <a:cs typeface="Times New Roman" panose="02020603050405020304" pitchFamily="18" charset="0"/>
              </a:rPr>
              <a:t>                         228R1A67D8</a:t>
            </a:r>
          </a:p>
          <a:p>
            <a:endParaRPr lang="pt-B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6CEA291-B7D5-4E56-A8B1-C592BB803832}"/>
              </a:ext>
            </a:extLst>
          </p:cNvPr>
          <p:cNvSpPr>
            <a:spLocks noGrp="1"/>
          </p:cNvSpPr>
          <p:nvPr>
            <p:ph type="ctrTitle"/>
          </p:nvPr>
        </p:nvSpPr>
        <p:spPr>
          <a:xfrm>
            <a:off x="726906" y="0"/>
            <a:ext cx="10738187" cy="899868"/>
          </a:xfrm>
        </p:spPr>
        <p:txBody>
          <a:bodyPr>
            <a:normAutofit/>
          </a:bodyPr>
          <a:lstStyle/>
          <a:p>
            <a:r>
              <a:rPr lang="en-IN" sz="3200" b="1" dirty="0">
                <a:latin typeface="Times New Roman" panose="02020603050405020304" pitchFamily="18" charset="0"/>
                <a:cs typeface="Times New Roman" panose="02020603050405020304" pitchFamily="18" charset="0"/>
              </a:rPr>
              <a:t>OUTLINE</a:t>
            </a:r>
          </a:p>
        </p:txBody>
      </p:sp>
      <p:sp>
        <p:nvSpPr>
          <p:cNvPr id="10" name="Subtitle 9">
            <a:extLst>
              <a:ext uri="{FF2B5EF4-FFF2-40B4-BE49-F238E27FC236}">
                <a16:creationId xmlns:a16="http://schemas.microsoft.com/office/drawing/2014/main" id="{45CAE442-1591-4C1B-8499-CDF1B1B9A1A4}"/>
              </a:ext>
            </a:extLst>
          </p:cNvPr>
          <p:cNvSpPr>
            <a:spLocks noGrp="1"/>
          </p:cNvSpPr>
          <p:nvPr>
            <p:ph type="subTitle" idx="1"/>
          </p:nvPr>
        </p:nvSpPr>
        <p:spPr>
          <a:xfrm>
            <a:off x="866042" y="1261527"/>
            <a:ext cx="11554690" cy="5596473"/>
          </a:xfrm>
        </p:spPr>
        <p:txBody>
          <a:bodyPr>
            <a:normAutofit/>
          </a:bodyPr>
          <a:lstStyle/>
          <a:p>
            <a:pPr marL="625475" indent="-625475" algn="just">
              <a:lnSpc>
                <a:spcPct val="120000"/>
              </a:lnSpc>
              <a:buFont typeface="Wingdings" panose="05000000000000000000" pitchFamily="2" charset="2"/>
              <a:buChar char="q"/>
            </a:pPr>
            <a:r>
              <a:rPr lang="en-IN" sz="2800" dirty="0">
                <a:latin typeface="Times New Roman" panose="02020603050405020304" pitchFamily="18" charset="0"/>
                <a:cs typeface="Times New Roman" pitchFamily="18" charset="0"/>
              </a:rPr>
              <a:t>INTRODUCTION </a:t>
            </a:r>
          </a:p>
          <a:p>
            <a:pPr marL="625475" indent="-625475" algn="just">
              <a:lnSpc>
                <a:spcPct val="120000"/>
              </a:lnSpc>
              <a:buFont typeface="Wingdings" panose="05000000000000000000" pitchFamily="2" charset="2"/>
              <a:buChar char="q"/>
            </a:pPr>
            <a:r>
              <a:rPr lang="en-US" sz="2800" dirty="0">
                <a:latin typeface="Times New Roman" panose="02020603050405020304" pitchFamily="18" charset="0"/>
                <a:cs typeface="Times New Roman" pitchFamily="18" charset="0"/>
              </a:rPr>
              <a:t>OBJECTIVES</a:t>
            </a:r>
          </a:p>
          <a:p>
            <a:pPr marL="625475" indent="-625475" algn="just">
              <a:lnSpc>
                <a:spcPct val="120000"/>
              </a:lnSpc>
              <a:buFont typeface="Wingdings" panose="05000000000000000000" pitchFamily="2" charset="2"/>
              <a:buChar char="q"/>
            </a:pPr>
            <a:r>
              <a:rPr lang="en-US" sz="2800" dirty="0">
                <a:latin typeface="Times New Roman" panose="02020603050405020304" pitchFamily="18" charset="0"/>
                <a:cs typeface="Times New Roman" pitchFamily="18" charset="0"/>
              </a:rPr>
              <a:t>PROBLEM IDENTIFICATION AREA</a:t>
            </a:r>
          </a:p>
          <a:p>
            <a:pPr marL="625475" indent="-625475" algn="just">
              <a:lnSpc>
                <a:spcPct val="120000"/>
              </a:lnSpc>
              <a:buFont typeface="Wingdings" panose="05000000000000000000" pitchFamily="2" charset="2"/>
              <a:buChar char="q"/>
            </a:pPr>
            <a:r>
              <a:rPr lang="en-IN" sz="2800" dirty="0">
                <a:latin typeface="Times New Roman" panose="02020603050405020304" pitchFamily="18" charset="0"/>
                <a:cs typeface="Times New Roman" pitchFamily="18" charset="0"/>
              </a:rPr>
              <a:t>LITERATURE SURVEY</a:t>
            </a:r>
            <a:endParaRPr lang="en-US" sz="2800" dirty="0">
              <a:latin typeface="Times New Roman" panose="02020603050405020304" pitchFamily="18" charset="0"/>
              <a:cs typeface="Times New Roman" pitchFamily="18" charset="0"/>
            </a:endParaRPr>
          </a:p>
          <a:p>
            <a:pPr marL="625475" indent="-625475" algn="just">
              <a:lnSpc>
                <a:spcPct val="120000"/>
              </a:lnSpc>
              <a:buFont typeface="Wingdings" panose="05000000000000000000" pitchFamily="2" charset="2"/>
              <a:buChar char="q"/>
            </a:pPr>
            <a:r>
              <a:rPr lang="en-US" altLang="en-US" sz="2800" dirty="0">
                <a:latin typeface="Times New Roman" panose="02020603050405020304" pitchFamily="18" charset="0"/>
                <a:cs typeface="Times New Roman" pitchFamily="18" charset="0"/>
              </a:rPr>
              <a:t>FURTHER DEVELOPMENT OF RESEARCH WORK </a:t>
            </a:r>
          </a:p>
          <a:p>
            <a:pPr marL="625475" indent="-625475" algn="just">
              <a:lnSpc>
                <a:spcPct val="120000"/>
              </a:lnSpc>
              <a:buFont typeface="Wingdings" panose="05000000000000000000" pitchFamily="2" charset="2"/>
              <a:buChar char="q"/>
            </a:pPr>
            <a:r>
              <a:rPr lang="en-IN" sz="2800" dirty="0">
                <a:latin typeface="Times New Roman" panose="02020603050405020304" pitchFamily="18" charset="0"/>
                <a:cs typeface="Times New Roman" pitchFamily="18" charset="0"/>
              </a:rPr>
              <a:t>BLOCK DIAGRAM</a:t>
            </a:r>
            <a:endParaRPr lang="en-US" sz="2800" dirty="0">
              <a:latin typeface="Times New Roman" panose="02020603050405020304" pitchFamily="18" charset="0"/>
              <a:cs typeface="Times New Roman" pitchFamily="18" charset="0"/>
            </a:endParaRPr>
          </a:p>
          <a:p>
            <a:pPr marL="625475" indent="-625475" algn="just">
              <a:lnSpc>
                <a:spcPct val="120000"/>
              </a:lnSpc>
              <a:buFont typeface="Wingdings" panose="05000000000000000000" pitchFamily="2" charset="2"/>
              <a:buChar char="q"/>
            </a:pPr>
            <a:r>
              <a:rPr lang="en-IN" sz="2800" dirty="0">
                <a:latin typeface="Times New Roman" panose="02020603050405020304" pitchFamily="18" charset="0"/>
                <a:cs typeface="Times New Roman" pitchFamily="18" charset="0"/>
              </a:rPr>
              <a:t>EXPECTED RESULTS</a:t>
            </a:r>
            <a:r>
              <a:rPr lang="en-US" sz="2800" dirty="0">
                <a:latin typeface="Times New Roman" panose="02020603050405020304" pitchFamily="18" charset="0"/>
                <a:cs typeface="Times New Roman" pitchFamily="18" charset="0"/>
              </a:rPr>
              <a:t> </a:t>
            </a:r>
          </a:p>
          <a:p>
            <a:pPr marL="625475" indent="-625475" algn="just">
              <a:lnSpc>
                <a:spcPct val="120000"/>
              </a:lnSpc>
              <a:buFont typeface="Wingdings" pitchFamily="2" charset="2"/>
              <a:buChar char="Ø"/>
            </a:pPr>
            <a:endParaRPr lang="en-IN" sz="4400" dirty="0">
              <a:solidFill>
                <a:srgbClr val="002060"/>
              </a:solidFill>
              <a:latin typeface="Times New Roman" panose="02020603050405020304" pitchFamily="18" charset="0"/>
              <a:cs typeface="Times New Roman" panose="02020603050405020304" pitchFamily="18" charset="0"/>
            </a:endParaRPr>
          </a:p>
          <a:p>
            <a:pPr lvl="0" algn="just">
              <a:lnSpc>
                <a:spcPct val="120000"/>
              </a:lnSpc>
            </a:pPr>
            <a:endParaRPr lang="en-IN" sz="4400" dirty="0">
              <a:solidFill>
                <a:srgbClr val="002060"/>
              </a:solidFill>
              <a:cs typeface="Times New Roman" panose="02020603050405020304" pitchFamily="18" charset="0"/>
            </a:endParaRPr>
          </a:p>
          <a:p>
            <a:pPr algn="just"/>
            <a:endParaRPr lang="en-IN" sz="4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46811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B7391-A297-A486-D429-FB654F650460}"/>
              </a:ext>
            </a:extLst>
          </p:cNvPr>
          <p:cNvSpPr>
            <a:spLocks noGrp="1"/>
          </p:cNvSpPr>
          <p:nvPr>
            <p:ph type="title"/>
          </p:nvPr>
        </p:nvSpPr>
        <p:spPr>
          <a:xfrm>
            <a:off x="838200" y="365125"/>
            <a:ext cx="10515600" cy="1167113"/>
          </a:xfrm>
        </p:spPr>
        <p:txBody>
          <a:bodyPr>
            <a:normAutofit/>
          </a:bodyPr>
          <a:lstStyle/>
          <a:p>
            <a:pPr algn="ctr"/>
            <a:r>
              <a:rPr lang="en-US" sz="32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281F8A8-66D8-1BD5-A759-5AC8E5FD2A61}"/>
              </a:ext>
            </a:extLst>
          </p:cNvPr>
          <p:cNvSpPr>
            <a:spLocks noGrp="1"/>
          </p:cNvSpPr>
          <p:nvPr>
            <p:ph idx="1"/>
          </p:nvPr>
        </p:nvSpPr>
        <p:spPr>
          <a:xfrm>
            <a:off x="815340" y="1653093"/>
            <a:ext cx="10561320" cy="4335112"/>
          </a:xfrm>
        </p:spPr>
        <p:txBody>
          <a:bodyPr>
            <a:noAutofit/>
          </a:bodyPr>
          <a:lstStyle/>
          <a:p>
            <a:pPr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Manual document processing (reading, extracting, and entering data from scanned documents) is time-consuming and error-prone.</a:t>
            </a:r>
          </a:p>
          <a:p>
            <a:pPr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AWS </a:t>
            </a:r>
            <a:r>
              <a:rPr lang="en-US" sz="2400" dirty="0" err="1">
                <a:latin typeface="Times New Roman" panose="02020603050405020304" pitchFamily="18" charset="0"/>
                <a:cs typeface="Times New Roman" panose="02020603050405020304" pitchFamily="18" charset="0"/>
              </a:rPr>
              <a:t>Textract</a:t>
            </a:r>
            <a:r>
              <a:rPr lang="en-US" sz="2400" dirty="0">
                <a:latin typeface="Times New Roman" panose="02020603050405020304" pitchFamily="18" charset="0"/>
                <a:cs typeface="Times New Roman" panose="02020603050405020304" pitchFamily="18" charset="0"/>
              </a:rPr>
              <a:t> is a machine learning service that </a:t>
            </a:r>
            <a:r>
              <a:rPr lang="en-US" sz="2400" b="1" dirty="0">
                <a:latin typeface="Times New Roman" panose="02020603050405020304" pitchFamily="18" charset="0"/>
                <a:cs typeface="Times New Roman" panose="02020603050405020304" pitchFamily="18" charset="0"/>
              </a:rPr>
              <a:t>automates extraction of text, forms, tables, and key-value pairs</a:t>
            </a:r>
            <a:r>
              <a:rPr lang="en-US" sz="2400" dirty="0">
                <a:latin typeface="Times New Roman" panose="02020603050405020304" pitchFamily="18" charset="0"/>
                <a:cs typeface="Times New Roman" panose="02020603050405020304" pitchFamily="18" charset="0"/>
              </a:rPr>
              <a:t> from scanned documents, improving efficiency and accuracy.</a:t>
            </a:r>
          </a:p>
          <a:p>
            <a:pPr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This project explores the use of AWS </a:t>
            </a:r>
            <a:r>
              <a:rPr lang="en-US" sz="2400" dirty="0" err="1">
                <a:latin typeface="Times New Roman" panose="02020603050405020304" pitchFamily="18" charset="0"/>
                <a:cs typeface="Times New Roman" panose="02020603050405020304" pitchFamily="18" charset="0"/>
              </a:rPr>
              <a:t>Textract</a:t>
            </a:r>
            <a:r>
              <a:rPr lang="en-US" sz="2400" dirty="0">
                <a:latin typeface="Times New Roman" panose="02020603050405020304" pitchFamily="18" charset="0"/>
                <a:cs typeface="Times New Roman" panose="02020603050405020304" pitchFamily="18" charset="0"/>
              </a:rPr>
              <a:t> to automate document workflows and reduce human effort.</a:t>
            </a:r>
          </a:p>
          <a:p>
            <a:pPr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8891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3CB4D-EA52-5E70-56D9-6F3F36E9B315}"/>
              </a:ext>
            </a:extLst>
          </p:cNvPr>
          <p:cNvSpPr>
            <a:spLocks noGrp="1"/>
          </p:cNvSpPr>
          <p:nvPr>
            <p:ph type="title"/>
          </p:nvPr>
        </p:nvSpPr>
        <p:spPr>
          <a:xfrm>
            <a:off x="0" y="0"/>
            <a:ext cx="12192000" cy="1276639"/>
          </a:xfrm>
        </p:spPr>
        <p:txBody>
          <a:bodyPr>
            <a:normAutofit/>
          </a:bodyPr>
          <a:lstStyle/>
          <a:p>
            <a:pPr algn="ctr"/>
            <a:br>
              <a:rPr lang="en-US" sz="3200" dirty="0">
                <a:solidFill>
                  <a:srgbClr val="002060"/>
                </a:solidFill>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9A625830-329B-56A5-C1FC-B5FE9A054D94}"/>
              </a:ext>
            </a:extLst>
          </p:cNvPr>
          <p:cNvSpPr>
            <a:spLocks noGrp="1"/>
          </p:cNvSpPr>
          <p:nvPr>
            <p:ph idx="1"/>
          </p:nvPr>
        </p:nvSpPr>
        <p:spPr>
          <a:xfrm>
            <a:off x="1039292" y="1467779"/>
            <a:ext cx="11018521" cy="2725080"/>
          </a:xfrm>
        </p:spPr>
        <p:txBody>
          <a:bodyPr>
            <a:no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a:t>
            </a:r>
          </a:p>
          <a:p>
            <a:pPr>
              <a:lnSpc>
                <a:spcPct val="2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67EE7BF8-1C4A-7E55-C321-23314EAC395B}"/>
              </a:ext>
            </a:extLst>
          </p:cNvPr>
          <p:cNvSpPr>
            <a:spLocks noChangeArrowheads="1"/>
          </p:cNvSpPr>
          <p:nvPr/>
        </p:nvSpPr>
        <p:spPr bwMode="auto">
          <a:xfrm>
            <a:off x="1039292" y="1649867"/>
            <a:ext cx="10113416"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automate extraction of structured and unstructured data from scanned documents.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data entry time and errors.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extracted data into databases for further processing.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demonstrate integration of AWS cloud services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Textract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S3, Lambda, DynamoDB).</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scalable, cloud-based document processing system.</a:t>
            </a:r>
          </a:p>
        </p:txBody>
      </p:sp>
    </p:spTree>
    <p:extLst>
      <p:ext uri="{BB962C8B-B14F-4D97-AF65-F5344CB8AC3E}">
        <p14:creationId xmlns:p14="http://schemas.microsoft.com/office/powerpoint/2010/main" val="643286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B5B8-57C9-1237-E068-F9707BA83051}"/>
              </a:ext>
            </a:extLst>
          </p:cNvPr>
          <p:cNvSpPr>
            <a:spLocks noGrp="1"/>
          </p:cNvSpPr>
          <p:nvPr>
            <p:ph type="title"/>
          </p:nvPr>
        </p:nvSpPr>
        <p:spPr>
          <a:xfrm>
            <a:off x="545431" y="434897"/>
            <a:ext cx="11101137" cy="890649"/>
          </a:xfrm>
        </p:spPr>
        <p:txBody>
          <a:bodyPr>
            <a:normAutofit/>
          </a:bodyPr>
          <a:lstStyle/>
          <a:p>
            <a:pPr algn="ctr"/>
            <a:r>
              <a:rPr lang="en-IN" sz="3200" b="1" dirty="0">
                <a:latin typeface="Times New Roman" panose="02020603050405020304" pitchFamily="18" charset="0"/>
                <a:cs typeface="Times New Roman" panose="02020603050405020304" pitchFamily="18" charset="0"/>
              </a:rPr>
              <a:t>PROBLEM IDENTIFICATION AREAS</a:t>
            </a:r>
          </a:p>
        </p:txBody>
      </p:sp>
      <p:sp>
        <p:nvSpPr>
          <p:cNvPr id="3" name="Content Placeholder 2">
            <a:extLst>
              <a:ext uri="{FF2B5EF4-FFF2-40B4-BE49-F238E27FC236}">
                <a16:creationId xmlns:a16="http://schemas.microsoft.com/office/drawing/2014/main" id="{3679EB54-BA06-368C-B983-D77075016712}"/>
              </a:ext>
            </a:extLst>
          </p:cNvPr>
          <p:cNvSpPr>
            <a:spLocks noGrp="1"/>
          </p:cNvSpPr>
          <p:nvPr>
            <p:ph idx="1"/>
          </p:nvPr>
        </p:nvSpPr>
        <p:spPr>
          <a:xfrm>
            <a:off x="1092820" y="1590511"/>
            <a:ext cx="9277814" cy="4500873"/>
          </a:xfrm>
        </p:spPr>
        <p:txBody>
          <a:bodyPr>
            <a:normAutofit/>
          </a:bodyPr>
          <a:lstStyle/>
          <a:p>
            <a:pPr algn="just" eaLnBrk="0" fontAlgn="base" hangingPunct="0">
              <a:lnSpc>
                <a:spcPct val="100000"/>
              </a:lnSpc>
              <a:spcBef>
                <a:spcPct val="0"/>
              </a:spcBef>
              <a:spcAft>
                <a:spcPct val="0"/>
              </a:spcAft>
              <a:buFont typeface="Courier New" panose="02070309020205020404" pitchFamily="49" charset="0"/>
              <a:buChar char="o"/>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Invoice Processing:</a:t>
            </a:r>
          </a:p>
          <a:p>
            <a:pPr marL="268288" indent="-268288" algn="just"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Extracting vendor name, invoice number, dates, line items, and totals for          accounting </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a:t>
            </a:r>
          </a:p>
          <a:p>
            <a:pPr marR="0" lvl="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Form Digitization: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68288" marR="0" lvl="0" indent="-268288"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Extracting data from government or business forms like applications, registration forms, or surveys.</a:t>
            </a:r>
          </a:p>
          <a:p>
            <a:pPr marR="0" lvl="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 Document Processing: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68288" marR="0" lvl="0" indent="-268288"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Reading passport, driver’s license, or Aadhaar card data for verification  purposes.</a:t>
            </a:r>
          </a:p>
          <a:p>
            <a:pPr marR="0" lvl="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Records: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68288" marR="0" lvl="0" indent="-268288"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Extracting structured data from patient forms, prescriptions, and insurance   claims.</a:t>
            </a:r>
          </a:p>
          <a:p>
            <a:pPr marL="60325" indent="0" algn="just">
              <a:lnSpc>
                <a:spcPct val="120000"/>
              </a:lnSpc>
              <a:buNone/>
            </a:pPr>
            <a:endParaRPr lang="en-US" sz="2400" dirty="0"/>
          </a:p>
        </p:txBody>
      </p:sp>
    </p:spTree>
    <p:extLst>
      <p:ext uri="{BB962C8B-B14F-4D97-AF65-F5344CB8AC3E}">
        <p14:creationId xmlns:p14="http://schemas.microsoft.com/office/powerpoint/2010/main" val="190106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6CEA291-B7D5-4E56-A8B1-C592BB803832}"/>
              </a:ext>
            </a:extLst>
          </p:cNvPr>
          <p:cNvSpPr>
            <a:spLocks noGrp="1"/>
          </p:cNvSpPr>
          <p:nvPr>
            <p:ph type="ctrTitle"/>
          </p:nvPr>
        </p:nvSpPr>
        <p:spPr>
          <a:xfrm>
            <a:off x="3019106" y="365125"/>
            <a:ext cx="10879860" cy="671332"/>
          </a:xfrm>
        </p:spPr>
        <p:txBody>
          <a:bodyPr>
            <a:normAutofit/>
          </a:bodyPr>
          <a:lstStyle/>
          <a:p>
            <a:pPr algn="l"/>
            <a:r>
              <a:rPr lang="en-IN" sz="3200" b="1" dirty="0">
                <a:latin typeface="Times New Roman" panose="02020603050405020304" pitchFamily="18" charset="0"/>
                <a:ea typeface="+mj-ea"/>
                <a:cs typeface="Times New Roman" panose="02020603050405020304" pitchFamily="18" charset="0"/>
              </a:rPr>
              <a:t>LITERATURE SURVEY</a:t>
            </a:r>
            <a:endParaRPr lang="en-IN" sz="32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438F743-8281-EFA1-3205-4565B85B4BEC}"/>
              </a:ext>
            </a:extLst>
          </p:cNvPr>
          <p:cNvGraphicFramePr>
            <a:graphicFrameLocks noGrp="1"/>
          </p:cNvGraphicFramePr>
          <p:nvPr>
            <p:extLst>
              <p:ext uri="{D42A27DB-BD31-4B8C-83A1-F6EECF244321}">
                <p14:modId xmlns:p14="http://schemas.microsoft.com/office/powerpoint/2010/main" val="896441762"/>
              </p:ext>
            </p:extLst>
          </p:nvPr>
        </p:nvGraphicFramePr>
        <p:xfrm>
          <a:off x="877230" y="1483376"/>
          <a:ext cx="10437540" cy="4681753"/>
        </p:xfrm>
        <a:graphic>
          <a:graphicData uri="http://schemas.openxmlformats.org/drawingml/2006/table">
            <a:tbl>
              <a:tblPr/>
              <a:tblGrid>
                <a:gridCol w="2609385">
                  <a:extLst>
                    <a:ext uri="{9D8B030D-6E8A-4147-A177-3AD203B41FA5}">
                      <a16:colId xmlns:a16="http://schemas.microsoft.com/office/drawing/2014/main" val="267749610"/>
                    </a:ext>
                  </a:extLst>
                </a:gridCol>
                <a:gridCol w="2609385">
                  <a:extLst>
                    <a:ext uri="{9D8B030D-6E8A-4147-A177-3AD203B41FA5}">
                      <a16:colId xmlns:a16="http://schemas.microsoft.com/office/drawing/2014/main" val="4246410304"/>
                    </a:ext>
                  </a:extLst>
                </a:gridCol>
                <a:gridCol w="2609385">
                  <a:extLst>
                    <a:ext uri="{9D8B030D-6E8A-4147-A177-3AD203B41FA5}">
                      <a16:colId xmlns:a16="http://schemas.microsoft.com/office/drawing/2014/main" val="1877480392"/>
                    </a:ext>
                  </a:extLst>
                </a:gridCol>
                <a:gridCol w="2609385">
                  <a:extLst>
                    <a:ext uri="{9D8B030D-6E8A-4147-A177-3AD203B41FA5}">
                      <a16:colId xmlns:a16="http://schemas.microsoft.com/office/drawing/2014/main" val="1673499466"/>
                    </a:ext>
                  </a:extLst>
                </a:gridCol>
              </a:tblGrid>
              <a:tr h="415931">
                <a:tc>
                  <a:txBody>
                    <a:bodyPr/>
                    <a:lstStyle/>
                    <a:p>
                      <a:pPr algn="ctr"/>
                      <a:r>
                        <a:rPr lang="en-IN" sz="1800" b="1" dirty="0" err="1">
                          <a:effectLst/>
                          <a:latin typeface="Times New Roman" panose="02020603050405020304" pitchFamily="18" charset="0"/>
                          <a:cs typeface="Times New Roman" panose="02020603050405020304" pitchFamily="18" charset="0"/>
                        </a:rPr>
                        <a:t>S.No</a:t>
                      </a:r>
                      <a:endParaRPr lang="en-IN" sz="1800" dirty="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IN" sz="1800" b="1">
                          <a:effectLst/>
                          <a:latin typeface="Times New Roman" panose="02020603050405020304" pitchFamily="18" charset="0"/>
                          <a:cs typeface="Times New Roman" panose="02020603050405020304" pitchFamily="18" charset="0"/>
                        </a:rPr>
                        <a:t>Title / Tool</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IN" sz="1800" b="1">
                          <a:effectLst/>
                          <a:latin typeface="Times New Roman" panose="02020603050405020304" pitchFamily="18" charset="0"/>
                          <a:cs typeface="Times New Roman" panose="02020603050405020304" pitchFamily="18" charset="0"/>
                        </a:rPr>
                        <a:t>Description</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IN" sz="1800" b="1">
                          <a:effectLst/>
                          <a:latin typeface="Times New Roman" panose="02020603050405020304" pitchFamily="18" charset="0"/>
                          <a:cs typeface="Times New Roman" panose="02020603050405020304" pitchFamily="18" charset="0"/>
                        </a:rPr>
                        <a:t>Limitations</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extLst>
                  <a:ext uri="{0D108BD9-81ED-4DB2-BD59-A6C34878D82A}">
                    <a16:rowId xmlns:a16="http://schemas.microsoft.com/office/drawing/2014/main" val="360006575"/>
                  </a:ext>
                </a:extLst>
              </a:tr>
              <a:tr h="1086604">
                <a:tc>
                  <a:txBody>
                    <a:bodyPr/>
                    <a:lstStyle/>
                    <a:p>
                      <a:pPr algn="ctr"/>
                      <a:r>
                        <a:rPr lang="en-IN" sz="1800" dirty="0">
                          <a:effectLst/>
                          <a:latin typeface="Times New Roman" panose="02020603050405020304" pitchFamily="18" charset="0"/>
                          <a:cs typeface="Times New Roman" panose="02020603050405020304" pitchFamily="18" charset="0"/>
                        </a:rPr>
                        <a:t>1</a:t>
                      </a:r>
                    </a:p>
                  </a:txBody>
                  <a:tcPr marL="65929" marR="65929" marT="32965" marB="32965" anchor="ctr">
                    <a:lnL>
                      <a:noFill/>
                    </a:lnL>
                    <a:lnR>
                      <a:noFill/>
                    </a:lnR>
                    <a:lnT>
                      <a:noFill/>
                    </a:lnT>
                    <a:lnB>
                      <a:noFill/>
                    </a:lnB>
                    <a:noFill/>
                  </a:tcPr>
                </a:tc>
                <a:tc>
                  <a:txBody>
                    <a:bodyPr/>
                    <a:lstStyle/>
                    <a:p>
                      <a:pPr algn="l"/>
                      <a:r>
                        <a:rPr lang="en-IN" sz="1800" dirty="0">
                          <a:effectLst/>
                          <a:latin typeface="Times New Roman" panose="02020603050405020304" pitchFamily="18" charset="0"/>
                          <a:cs typeface="Times New Roman" panose="02020603050405020304" pitchFamily="18" charset="0"/>
                        </a:rPr>
                        <a:t>Tesseract OCR</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Open-source tool that extracts plain text from scanned documents.</a:t>
                      </a:r>
                    </a:p>
                  </a:txBody>
                  <a:tcPr marL="65929" marR="65929" marT="32965" marB="32965" anchor="ctr">
                    <a:lnL>
                      <a:noFill/>
                    </a:lnL>
                    <a:lnR>
                      <a:noFill/>
                    </a:lnR>
                    <a:lnT>
                      <a:noFill/>
                    </a:lnT>
                    <a:lnB>
                      <a:noFill/>
                    </a:lnB>
                    <a:noFill/>
                  </a:tcPr>
                </a:tc>
                <a:tc>
                  <a:txBody>
                    <a:bodyPr/>
                    <a:lstStyle/>
                    <a:p>
                      <a:pPr algn="l"/>
                      <a:r>
                        <a:rPr lang="en-US" sz="1800">
                          <a:effectLst/>
                          <a:latin typeface="Times New Roman" panose="02020603050405020304" pitchFamily="18" charset="0"/>
                          <a:cs typeface="Times New Roman" panose="02020603050405020304" pitchFamily="18" charset="0"/>
                        </a:rPr>
                        <a:t>Cannot detect forms, tables, or complex document structures.</a:t>
                      </a:r>
                    </a:p>
                  </a:txBody>
                  <a:tcPr marL="65929" marR="65929" marT="32965" marB="32965" anchor="ctr">
                    <a:lnL>
                      <a:noFill/>
                    </a:lnL>
                    <a:lnR>
                      <a:noFill/>
                    </a:lnR>
                    <a:lnT>
                      <a:noFill/>
                    </a:lnT>
                    <a:lnB>
                      <a:noFill/>
                    </a:lnB>
                    <a:noFill/>
                  </a:tcPr>
                </a:tc>
                <a:extLst>
                  <a:ext uri="{0D108BD9-81ED-4DB2-BD59-A6C34878D82A}">
                    <a16:rowId xmlns:a16="http://schemas.microsoft.com/office/drawing/2014/main" val="3056837335"/>
                  </a:ext>
                </a:extLst>
              </a:tr>
              <a:tr h="1421941">
                <a:tc>
                  <a:txBody>
                    <a:bodyPr/>
                    <a:lstStyle/>
                    <a:p>
                      <a:pPr algn="ctr"/>
                      <a:r>
                        <a:rPr lang="en-IN" sz="1800" dirty="0">
                          <a:effectLst/>
                          <a:latin typeface="Times New Roman" panose="02020603050405020304" pitchFamily="18" charset="0"/>
                          <a:cs typeface="Times New Roman" panose="02020603050405020304" pitchFamily="18" charset="0"/>
                        </a:rPr>
                        <a:t>2</a:t>
                      </a:r>
                    </a:p>
                  </a:txBody>
                  <a:tcPr marL="65929" marR="65929" marT="32965" marB="32965" anchor="ctr">
                    <a:lnL>
                      <a:noFill/>
                    </a:lnL>
                    <a:lnR>
                      <a:noFill/>
                    </a:lnR>
                    <a:lnT>
                      <a:noFill/>
                    </a:lnT>
                    <a:lnB>
                      <a:noFill/>
                    </a:lnB>
                    <a:noFill/>
                  </a:tcPr>
                </a:tc>
                <a:tc>
                  <a:txBody>
                    <a:bodyPr/>
                    <a:lstStyle/>
                    <a:p>
                      <a:pPr algn="l"/>
                      <a:r>
                        <a:rPr lang="en-IN" sz="1800" dirty="0">
                          <a:effectLst/>
                          <a:latin typeface="Times New Roman" panose="02020603050405020304" pitchFamily="18" charset="0"/>
                          <a:cs typeface="Times New Roman" panose="02020603050405020304" pitchFamily="18" charset="0"/>
                        </a:rPr>
                        <a:t>Deep Learning (CNN + RNN)</a:t>
                      </a:r>
                    </a:p>
                  </a:txBody>
                  <a:tcPr marL="65929" marR="65929" marT="32965" marB="32965" anchor="ctr">
                    <a:lnL>
                      <a:noFill/>
                    </a:lnL>
                    <a:lnR>
                      <a:noFill/>
                    </a:lnR>
                    <a:lnT>
                      <a:noFill/>
                    </a:lnT>
                    <a:lnB>
                      <a:noFill/>
                    </a:lnB>
                    <a:noFill/>
                  </a:tcPr>
                </a:tc>
                <a:tc>
                  <a:txBody>
                    <a:bodyPr/>
                    <a:lstStyle/>
                    <a:p>
                      <a:pPr algn="l"/>
                      <a:r>
                        <a:rPr lang="en-US" sz="1800">
                          <a:effectLst/>
                          <a:latin typeface="Times New Roman" panose="02020603050405020304" pitchFamily="18" charset="0"/>
                          <a:cs typeface="Times New Roman" panose="02020603050405020304" pitchFamily="18" charset="0"/>
                        </a:rPr>
                        <a:t>Machine Learning models trained to detect text areas and understand document layouts.</a:t>
                      </a:r>
                    </a:p>
                  </a:txBody>
                  <a:tcPr marL="65929" marR="65929" marT="32965" marB="32965" anchor="ctr">
                    <a:lnL>
                      <a:noFill/>
                    </a:lnL>
                    <a:lnR>
                      <a:noFill/>
                    </a:lnR>
                    <a:lnT>
                      <a:noFill/>
                    </a:lnT>
                    <a:lnB>
                      <a:noFill/>
                    </a:lnB>
                    <a:noFill/>
                  </a:tcPr>
                </a:tc>
                <a:tc>
                  <a:txBody>
                    <a:bodyPr/>
                    <a:lstStyle/>
                    <a:p>
                      <a:pPr algn="l"/>
                      <a:r>
                        <a:rPr lang="en-US" sz="1800">
                          <a:effectLst/>
                          <a:latin typeface="Times New Roman" panose="02020603050405020304" pitchFamily="18" charset="0"/>
                          <a:cs typeface="Times New Roman" panose="02020603050405020304" pitchFamily="18" charset="0"/>
                        </a:rPr>
                        <a:t>Requires a lot of labeled training data and large computational power.</a:t>
                      </a:r>
                    </a:p>
                  </a:txBody>
                  <a:tcPr marL="65929" marR="65929" marT="32965" marB="32965" anchor="ctr">
                    <a:lnL>
                      <a:noFill/>
                    </a:lnL>
                    <a:lnR>
                      <a:noFill/>
                    </a:lnR>
                    <a:lnT>
                      <a:noFill/>
                    </a:lnT>
                    <a:lnB>
                      <a:noFill/>
                    </a:lnB>
                    <a:noFill/>
                  </a:tcPr>
                </a:tc>
                <a:extLst>
                  <a:ext uri="{0D108BD9-81ED-4DB2-BD59-A6C34878D82A}">
                    <a16:rowId xmlns:a16="http://schemas.microsoft.com/office/drawing/2014/main" val="3671982194"/>
                  </a:ext>
                </a:extLst>
              </a:tr>
              <a:tr h="1757277">
                <a:tc>
                  <a:txBody>
                    <a:bodyPr/>
                    <a:lstStyle/>
                    <a:p>
                      <a:pPr algn="ctr"/>
                      <a:r>
                        <a:rPr lang="en-IN" sz="1800" dirty="0">
                          <a:effectLst/>
                          <a:latin typeface="Times New Roman" panose="02020603050405020304" pitchFamily="18" charset="0"/>
                          <a:cs typeface="Times New Roman" panose="02020603050405020304" pitchFamily="18" charset="0"/>
                        </a:rPr>
                        <a:t>3</a:t>
                      </a:r>
                    </a:p>
                  </a:txBody>
                  <a:tcPr marL="65929" marR="65929" marT="32965" marB="32965" anchor="ctr">
                    <a:lnL>
                      <a:noFill/>
                    </a:lnL>
                    <a:lnR>
                      <a:noFill/>
                    </a:lnR>
                    <a:lnT>
                      <a:noFill/>
                    </a:lnT>
                    <a:lnB>
                      <a:noFill/>
                    </a:lnB>
                    <a:noFill/>
                  </a:tcPr>
                </a:tc>
                <a:tc>
                  <a:txBody>
                    <a:bodyPr/>
                    <a:lstStyle/>
                    <a:p>
                      <a:pPr algn="l"/>
                      <a:r>
                        <a:rPr lang="en-IN" sz="1800" dirty="0">
                          <a:effectLst/>
                          <a:latin typeface="Times New Roman" panose="02020603050405020304" pitchFamily="18" charset="0"/>
                          <a:cs typeface="Times New Roman" panose="02020603050405020304" pitchFamily="18" charset="0"/>
                        </a:rPr>
                        <a:t>AWS </a:t>
                      </a:r>
                      <a:r>
                        <a:rPr lang="en-IN" sz="1800" dirty="0" err="1">
                          <a:effectLst/>
                          <a:latin typeface="Times New Roman" panose="02020603050405020304" pitchFamily="18" charset="0"/>
                          <a:cs typeface="Times New Roman" panose="02020603050405020304" pitchFamily="18" charset="0"/>
                        </a:rPr>
                        <a:t>Textract</a:t>
                      </a:r>
                      <a:endParaRPr lang="en-IN" sz="1800" dirty="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US" sz="1800">
                          <a:effectLst/>
                          <a:latin typeface="Times New Roman" panose="02020603050405020304" pitchFamily="18" charset="0"/>
                          <a:cs typeface="Times New Roman" panose="02020603050405020304" pitchFamily="18" charset="0"/>
                        </a:rPr>
                        <a:t>Cloud-based AI service by Amazon that extracts text, forms, and tables automatically from documents.</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Dependent on AWS services; costs may increase with heavy usage.</a:t>
                      </a:r>
                    </a:p>
                  </a:txBody>
                  <a:tcPr marL="65929" marR="65929" marT="32965" marB="32965" anchor="ctr">
                    <a:lnL>
                      <a:noFill/>
                    </a:lnL>
                    <a:lnR>
                      <a:noFill/>
                    </a:lnR>
                    <a:lnT>
                      <a:noFill/>
                    </a:lnT>
                    <a:lnB>
                      <a:noFill/>
                    </a:lnB>
                    <a:noFill/>
                  </a:tcPr>
                </a:tc>
                <a:extLst>
                  <a:ext uri="{0D108BD9-81ED-4DB2-BD59-A6C34878D82A}">
                    <a16:rowId xmlns:a16="http://schemas.microsoft.com/office/drawing/2014/main" val="598797007"/>
                  </a:ext>
                </a:extLst>
              </a:tr>
            </a:tbl>
          </a:graphicData>
        </a:graphic>
      </p:graphicFrame>
      <p:cxnSp>
        <p:nvCxnSpPr>
          <p:cNvPr id="5" name="Straight Connector 4">
            <a:extLst>
              <a:ext uri="{FF2B5EF4-FFF2-40B4-BE49-F238E27FC236}">
                <a16:creationId xmlns:a16="http://schemas.microsoft.com/office/drawing/2014/main" id="{FBA5A32F-37D4-F472-C52E-8542ED3719C6}"/>
              </a:ext>
            </a:extLst>
          </p:cNvPr>
          <p:cNvCxnSpPr>
            <a:cxnSpLocks/>
          </p:cNvCxnSpPr>
          <p:nvPr/>
        </p:nvCxnSpPr>
        <p:spPr>
          <a:xfrm>
            <a:off x="1256370" y="1348032"/>
            <a:ext cx="100800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7405A29-2126-5475-AA65-55675E9F2DAE}"/>
              </a:ext>
            </a:extLst>
          </p:cNvPr>
          <p:cNvCxnSpPr>
            <a:cxnSpLocks/>
          </p:cNvCxnSpPr>
          <p:nvPr/>
        </p:nvCxnSpPr>
        <p:spPr>
          <a:xfrm>
            <a:off x="1256370" y="1952377"/>
            <a:ext cx="10080000"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DB6407FB-F042-4F7A-227A-FD016020E7EA}"/>
              </a:ext>
            </a:extLst>
          </p:cNvPr>
          <p:cNvCxnSpPr/>
          <p:nvPr/>
        </p:nvCxnSpPr>
        <p:spPr>
          <a:xfrm>
            <a:off x="1256370" y="1348032"/>
            <a:ext cx="0" cy="481709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D41BE5A7-34BE-09F4-BFC6-DE1E3B02F00B}"/>
              </a:ext>
            </a:extLst>
          </p:cNvPr>
          <p:cNvCxnSpPr/>
          <p:nvPr/>
        </p:nvCxnSpPr>
        <p:spPr>
          <a:xfrm flipH="1">
            <a:off x="11314770" y="1348032"/>
            <a:ext cx="21600" cy="4737458"/>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EFE0857-4035-41A5-C5BC-7C8B7E8040B5}"/>
              </a:ext>
            </a:extLst>
          </p:cNvPr>
          <p:cNvCxnSpPr/>
          <p:nvPr/>
        </p:nvCxnSpPr>
        <p:spPr>
          <a:xfrm flipV="1">
            <a:off x="1256370" y="6085490"/>
            <a:ext cx="10058400" cy="79639"/>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AB1F9DCB-FEFB-7E8E-F4A5-C7CDBE907841}"/>
              </a:ext>
            </a:extLst>
          </p:cNvPr>
          <p:cNvCxnSpPr>
            <a:cxnSpLocks/>
          </p:cNvCxnSpPr>
          <p:nvPr/>
        </p:nvCxnSpPr>
        <p:spPr>
          <a:xfrm>
            <a:off x="1256370" y="3048000"/>
            <a:ext cx="1008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B611D33B-2307-5FC8-5A94-1C4466009710}"/>
              </a:ext>
            </a:extLst>
          </p:cNvPr>
          <p:cNvCxnSpPr/>
          <p:nvPr/>
        </p:nvCxnSpPr>
        <p:spPr>
          <a:xfrm>
            <a:off x="1256370" y="4403834"/>
            <a:ext cx="1008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EDF434D6-E36D-E4F5-E0A3-A9A741A77D9E}"/>
              </a:ext>
            </a:extLst>
          </p:cNvPr>
          <p:cNvCxnSpPr/>
          <p:nvPr/>
        </p:nvCxnSpPr>
        <p:spPr>
          <a:xfrm>
            <a:off x="2785241" y="1348032"/>
            <a:ext cx="0" cy="481709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D72A63D1-B64A-EA1F-561C-7EAD2E833CCF}"/>
              </a:ext>
            </a:extLst>
          </p:cNvPr>
          <p:cNvCxnSpPr>
            <a:cxnSpLocks/>
          </p:cNvCxnSpPr>
          <p:nvPr/>
        </p:nvCxnSpPr>
        <p:spPr>
          <a:xfrm>
            <a:off x="5885793" y="1348032"/>
            <a:ext cx="0" cy="481709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A245B5D3-1512-D47A-6EC2-3FF4CBE0ADDD}"/>
              </a:ext>
            </a:extLst>
          </p:cNvPr>
          <p:cNvCxnSpPr/>
          <p:nvPr/>
        </p:nvCxnSpPr>
        <p:spPr>
          <a:xfrm>
            <a:off x="8671035" y="1348032"/>
            <a:ext cx="0" cy="473745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9859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B3C37DA5-7CAC-5941-383A-AAA681667DC7}"/>
              </a:ext>
            </a:extLst>
          </p:cNvPr>
          <p:cNvGraphicFramePr>
            <a:graphicFrameLocks noGrp="1"/>
          </p:cNvGraphicFramePr>
          <p:nvPr>
            <p:extLst>
              <p:ext uri="{D42A27DB-BD31-4B8C-83A1-F6EECF244321}">
                <p14:modId xmlns:p14="http://schemas.microsoft.com/office/powerpoint/2010/main" val="2873376701"/>
              </p:ext>
            </p:extLst>
          </p:nvPr>
        </p:nvGraphicFramePr>
        <p:xfrm>
          <a:off x="1594540" y="1680328"/>
          <a:ext cx="8894784" cy="3497344"/>
        </p:xfrm>
        <a:graphic>
          <a:graphicData uri="http://schemas.openxmlformats.org/drawingml/2006/table">
            <a:tbl>
              <a:tblPr/>
              <a:tblGrid>
                <a:gridCol w="2114556">
                  <a:extLst>
                    <a:ext uri="{9D8B030D-6E8A-4147-A177-3AD203B41FA5}">
                      <a16:colId xmlns:a16="http://schemas.microsoft.com/office/drawing/2014/main" val="2629877029"/>
                    </a:ext>
                  </a:extLst>
                </a:gridCol>
                <a:gridCol w="2260076">
                  <a:extLst>
                    <a:ext uri="{9D8B030D-6E8A-4147-A177-3AD203B41FA5}">
                      <a16:colId xmlns:a16="http://schemas.microsoft.com/office/drawing/2014/main" val="676786012"/>
                    </a:ext>
                  </a:extLst>
                </a:gridCol>
                <a:gridCol w="2260076">
                  <a:extLst>
                    <a:ext uri="{9D8B030D-6E8A-4147-A177-3AD203B41FA5}">
                      <a16:colId xmlns:a16="http://schemas.microsoft.com/office/drawing/2014/main" val="3642140730"/>
                    </a:ext>
                  </a:extLst>
                </a:gridCol>
                <a:gridCol w="2260076">
                  <a:extLst>
                    <a:ext uri="{9D8B030D-6E8A-4147-A177-3AD203B41FA5}">
                      <a16:colId xmlns:a16="http://schemas.microsoft.com/office/drawing/2014/main" val="283770767"/>
                    </a:ext>
                  </a:extLst>
                </a:gridCol>
              </a:tblGrid>
              <a:tr h="518006">
                <a:tc>
                  <a:txBody>
                    <a:bodyPr/>
                    <a:lstStyle/>
                    <a:p>
                      <a:pPr algn="ctr"/>
                      <a:r>
                        <a:rPr lang="en-IN" sz="1800" b="1">
                          <a:effectLst/>
                          <a:latin typeface="Times New Roman" panose="02020603050405020304" pitchFamily="18" charset="0"/>
                          <a:cs typeface="Times New Roman" panose="02020603050405020304" pitchFamily="18" charset="0"/>
                        </a:rPr>
                        <a:t>S.No</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IN" sz="1800" b="1">
                          <a:effectLst/>
                          <a:latin typeface="Times New Roman" panose="02020603050405020304" pitchFamily="18" charset="0"/>
                          <a:cs typeface="Times New Roman" panose="02020603050405020304" pitchFamily="18" charset="0"/>
                        </a:rPr>
                        <a:t>Title / Tool</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IN" sz="1800" b="1">
                          <a:effectLst/>
                          <a:latin typeface="Times New Roman" panose="02020603050405020304" pitchFamily="18" charset="0"/>
                          <a:cs typeface="Times New Roman" panose="02020603050405020304" pitchFamily="18" charset="0"/>
                        </a:rPr>
                        <a:t>Description</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tc>
                  <a:txBody>
                    <a:bodyPr/>
                    <a:lstStyle/>
                    <a:p>
                      <a:pPr algn="l"/>
                      <a:r>
                        <a:rPr lang="en-IN" sz="1800" b="1">
                          <a:effectLst/>
                          <a:latin typeface="Times New Roman" panose="02020603050405020304" pitchFamily="18" charset="0"/>
                          <a:cs typeface="Times New Roman" panose="02020603050405020304" pitchFamily="18" charset="0"/>
                        </a:rPr>
                        <a:t>Limitations</a:t>
                      </a:r>
                      <a:endParaRPr lang="en-IN" sz="1800">
                        <a:effectLst/>
                        <a:latin typeface="Times New Roman" panose="02020603050405020304" pitchFamily="18" charset="0"/>
                        <a:cs typeface="Times New Roman" panose="02020603050405020304" pitchFamily="18" charset="0"/>
                      </a:endParaRPr>
                    </a:p>
                  </a:txBody>
                  <a:tcPr marL="65929" marR="65929" marT="32965" marB="32965" anchor="ctr">
                    <a:lnL>
                      <a:noFill/>
                    </a:lnL>
                    <a:lnR>
                      <a:noFill/>
                    </a:lnR>
                    <a:lnT>
                      <a:noFill/>
                    </a:lnT>
                    <a:lnB>
                      <a:noFill/>
                    </a:lnB>
                    <a:noFill/>
                  </a:tcPr>
                </a:tc>
                <a:extLst>
                  <a:ext uri="{0D108BD9-81ED-4DB2-BD59-A6C34878D82A}">
                    <a16:rowId xmlns:a16="http://schemas.microsoft.com/office/drawing/2014/main" val="4155788210"/>
                  </a:ext>
                </a:extLst>
              </a:tr>
              <a:tr h="1684002">
                <a:tc>
                  <a:txBody>
                    <a:bodyPr/>
                    <a:lstStyle/>
                    <a:p>
                      <a:pPr algn="ctr"/>
                      <a:r>
                        <a:rPr lang="en-IN" sz="1800" dirty="0">
                          <a:effectLst/>
                          <a:latin typeface="Times New Roman" panose="02020603050405020304" pitchFamily="18" charset="0"/>
                          <a:cs typeface="Times New Roman" panose="02020603050405020304" pitchFamily="18" charset="0"/>
                        </a:rPr>
                        <a:t>4</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Machine Reading Comprehension (MRC) Research</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Research area focusing on machines reading and understanding documents like humans.</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Still an evolving field, complex documents are harder to handle.</a:t>
                      </a:r>
                    </a:p>
                  </a:txBody>
                  <a:tcPr marL="65929" marR="65929" marT="32965" marB="32965" anchor="ctr">
                    <a:lnL>
                      <a:noFill/>
                    </a:lnL>
                    <a:lnR>
                      <a:noFill/>
                    </a:lnR>
                    <a:lnT>
                      <a:noFill/>
                    </a:lnT>
                    <a:lnB>
                      <a:noFill/>
                    </a:lnB>
                    <a:noFill/>
                  </a:tcPr>
                </a:tc>
                <a:extLst>
                  <a:ext uri="{0D108BD9-81ED-4DB2-BD59-A6C34878D82A}">
                    <a16:rowId xmlns:a16="http://schemas.microsoft.com/office/drawing/2014/main" val="2334055557"/>
                  </a:ext>
                </a:extLst>
              </a:tr>
              <a:tr h="1295336">
                <a:tc>
                  <a:txBody>
                    <a:bodyPr/>
                    <a:lstStyle/>
                    <a:p>
                      <a:pPr algn="ctr"/>
                      <a:r>
                        <a:rPr lang="en-IN" sz="1800">
                          <a:effectLst/>
                          <a:latin typeface="Times New Roman" panose="02020603050405020304" pitchFamily="18" charset="0"/>
                          <a:cs typeface="Times New Roman" panose="02020603050405020304" pitchFamily="18" charset="0"/>
                        </a:rPr>
                        <a:t>5</a:t>
                      </a:r>
                    </a:p>
                  </a:txBody>
                  <a:tcPr marL="65929" marR="65929" marT="32965" marB="32965" anchor="ctr">
                    <a:lnL>
                      <a:noFill/>
                    </a:lnL>
                    <a:lnR>
                      <a:noFill/>
                    </a:lnR>
                    <a:lnT>
                      <a:noFill/>
                    </a:lnT>
                    <a:lnB>
                      <a:noFill/>
                    </a:lnB>
                    <a:noFill/>
                  </a:tcPr>
                </a:tc>
                <a:tc>
                  <a:txBody>
                    <a:bodyPr/>
                    <a:lstStyle/>
                    <a:p>
                      <a:pPr algn="l"/>
                      <a:r>
                        <a:rPr lang="en-IN" sz="1800" dirty="0">
                          <a:effectLst/>
                          <a:latin typeface="Times New Roman" panose="02020603050405020304" pitchFamily="18" charset="0"/>
                          <a:cs typeface="Times New Roman" panose="02020603050405020304" pitchFamily="18" charset="0"/>
                        </a:rPr>
                        <a:t>Manual Data Entry</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Humans manually entering information from documents.</a:t>
                      </a:r>
                    </a:p>
                  </a:txBody>
                  <a:tcPr marL="65929" marR="65929" marT="32965" marB="32965" anchor="ctr">
                    <a:lnL>
                      <a:noFill/>
                    </a:lnL>
                    <a:lnR>
                      <a:noFill/>
                    </a:lnR>
                    <a:lnT>
                      <a:noFill/>
                    </a:lnT>
                    <a:lnB>
                      <a:noFill/>
                    </a:lnB>
                    <a:noFill/>
                  </a:tcPr>
                </a:tc>
                <a:tc>
                  <a:txBody>
                    <a:bodyPr/>
                    <a:lstStyle/>
                    <a:p>
                      <a:pPr algn="l"/>
                      <a:r>
                        <a:rPr lang="en-US" sz="1800" dirty="0">
                          <a:effectLst/>
                          <a:latin typeface="Times New Roman" panose="02020603050405020304" pitchFamily="18" charset="0"/>
                          <a:cs typeface="Times New Roman" panose="02020603050405020304" pitchFamily="18" charset="0"/>
                        </a:rPr>
                        <a:t>Time-consuming, costly, and prone to human errors.</a:t>
                      </a:r>
                    </a:p>
                  </a:txBody>
                  <a:tcPr marL="65929" marR="65929" marT="32965" marB="32965" anchor="ctr">
                    <a:lnL>
                      <a:noFill/>
                    </a:lnL>
                    <a:lnR>
                      <a:noFill/>
                    </a:lnR>
                    <a:lnT>
                      <a:noFill/>
                    </a:lnT>
                    <a:lnB>
                      <a:noFill/>
                    </a:lnB>
                    <a:noFill/>
                  </a:tcPr>
                </a:tc>
                <a:extLst>
                  <a:ext uri="{0D108BD9-81ED-4DB2-BD59-A6C34878D82A}">
                    <a16:rowId xmlns:a16="http://schemas.microsoft.com/office/drawing/2014/main" val="1471637710"/>
                  </a:ext>
                </a:extLst>
              </a:tr>
            </a:tbl>
          </a:graphicData>
        </a:graphic>
      </p:graphicFrame>
      <p:cxnSp>
        <p:nvCxnSpPr>
          <p:cNvPr id="10" name="Straight Connector 9">
            <a:extLst>
              <a:ext uri="{FF2B5EF4-FFF2-40B4-BE49-F238E27FC236}">
                <a16:creationId xmlns:a16="http://schemas.microsoft.com/office/drawing/2014/main" id="{C82EAF49-5A57-D00F-29EB-94EE51E3031A}"/>
              </a:ext>
            </a:extLst>
          </p:cNvPr>
          <p:cNvCxnSpPr/>
          <p:nvPr/>
        </p:nvCxnSpPr>
        <p:spPr>
          <a:xfrm>
            <a:off x="1860329" y="1654865"/>
            <a:ext cx="8628993"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ED34BF94-603E-A4B1-ED94-1F782B250F24}"/>
              </a:ext>
            </a:extLst>
          </p:cNvPr>
          <p:cNvCxnSpPr/>
          <p:nvPr/>
        </p:nvCxnSpPr>
        <p:spPr>
          <a:xfrm>
            <a:off x="1860330" y="2242117"/>
            <a:ext cx="8628993"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BC0903FE-468E-02B7-3AA4-C66DF2BE99BA}"/>
              </a:ext>
            </a:extLst>
          </p:cNvPr>
          <p:cNvCxnSpPr/>
          <p:nvPr/>
        </p:nvCxnSpPr>
        <p:spPr>
          <a:xfrm>
            <a:off x="1860329" y="1654865"/>
            <a:ext cx="0" cy="3497344"/>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4CD9D2F-19C5-723E-83E7-CD0E97E49E08}"/>
              </a:ext>
            </a:extLst>
          </p:cNvPr>
          <p:cNvCxnSpPr>
            <a:cxnSpLocks/>
          </p:cNvCxnSpPr>
          <p:nvPr/>
        </p:nvCxnSpPr>
        <p:spPr>
          <a:xfrm>
            <a:off x="10489322" y="1646495"/>
            <a:ext cx="0" cy="3497344"/>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AF497AD0-FF7C-B631-07D0-E738E3A629AF}"/>
              </a:ext>
            </a:extLst>
          </p:cNvPr>
          <p:cNvCxnSpPr>
            <a:cxnSpLocks/>
          </p:cNvCxnSpPr>
          <p:nvPr/>
        </p:nvCxnSpPr>
        <p:spPr>
          <a:xfrm>
            <a:off x="1860329" y="5143839"/>
            <a:ext cx="8628993"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9CFAD668-5114-2074-8F99-8234A16B8E6D}"/>
              </a:ext>
            </a:extLst>
          </p:cNvPr>
          <p:cNvCxnSpPr/>
          <p:nvPr/>
        </p:nvCxnSpPr>
        <p:spPr>
          <a:xfrm>
            <a:off x="3216165" y="1654865"/>
            <a:ext cx="0" cy="3497344"/>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804F72FF-B5BF-B734-1EB3-FA1E1B7EFB29}"/>
              </a:ext>
            </a:extLst>
          </p:cNvPr>
          <p:cNvCxnSpPr/>
          <p:nvPr/>
        </p:nvCxnSpPr>
        <p:spPr>
          <a:xfrm>
            <a:off x="5665076" y="1654865"/>
            <a:ext cx="0" cy="3497344"/>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785D4DD8-D364-8831-EDAC-DA96E9673F31}"/>
              </a:ext>
            </a:extLst>
          </p:cNvPr>
          <p:cNvCxnSpPr/>
          <p:nvPr/>
        </p:nvCxnSpPr>
        <p:spPr>
          <a:xfrm>
            <a:off x="8219089" y="1654865"/>
            <a:ext cx="0" cy="3497344"/>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FC11ABC-8ACF-CAE9-7123-C6836E129EB4}"/>
              </a:ext>
            </a:extLst>
          </p:cNvPr>
          <p:cNvCxnSpPr>
            <a:cxnSpLocks/>
          </p:cNvCxnSpPr>
          <p:nvPr/>
        </p:nvCxnSpPr>
        <p:spPr>
          <a:xfrm>
            <a:off x="1860330" y="3930869"/>
            <a:ext cx="8628993"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46653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2B986-1510-4996-BF8F-C8451E2F7E11}"/>
              </a:ext>
            </a:extLst>
          </p:cNvPr>
          <p:cNvSpPr>
            <a:spLocks noGrp="1"/>
          </p:cNvSpPr>
          <p:nvPr>
            <p:ph type="title"/>
          </p:nvPr>
        </p:nvSpPr>
        <p:spPr>
          <a:xfrm>
            <a:off x="1024536" y="65988"/>
            <a:ext cx="10290810" cy="1589405"/>
          </a:xfrm>
        </p:spPr>
        <p:txBody>
          <a:bodyPr>
            <a:normAutofit/>
          </a:bodyPr>
          <a:lstStyle/>
          <a:p>
            <a:pPr algn="ctr"/>
            <a:br>
              <a:rPr lang="en-US" sz="3200" dirty="0">
                <a:solidFill>
                  <a:schemeClr val="accent1"/>
                </a:solidFill>
                <a:latin typeface="Times New Roman" panose="02020603050405020304" pitchFamily="18" charset="0"/>
                <a:cs typeface="Times New Roman" panose="02020603050405020304" pitchFamily="18" charset="0"/>
              </a:rPr>
            </a:br>
            <a:r>
              <a:rPr kumimoji="0" lang="en-US" altLang="en-US" sz="3200" b="1" i="0" u="none" strike="noStrike" cap="none" normalizeH="0" baseline="0" dirty="0">
                <a:ln>
                  <a:noFill/>
                </a:ln>
                <a:effectLst/>
                <a:latin typeface="Times New Roman" panose="02020603050405020304" pitchFamily="18" charset="0"/>
                <a:cs typeface="Times New Roman" panose="02020603050405020304" pitchFamily="18" charset="0"/>
              </a:rPr>
              <a:t>FURTHER DEVELOPMENT OF RESEARCH WORK</a:t>
            </a:r>
            <a:br>
              <a:rPr kumimoji="0" lang="en-US" altLang="en-US" sz="3200" b="0" i="0" u="none" strike="noStrike" cap="none" normalizeH="0" baseline="0" dirty="0">
                <a:ln>
                  <a:noFill/>
                </a:ln>
                <a:solidFill>
                  <a:schemeClr val="tx1"/>
                </a:solidFill>
                <a:effectLst/>
                <a:latin typeface="Arial" panose="020B0604020202020204" pitchFamily="34" charset="0"/>
              </a:rPr>
            </a:b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8D0B53-BB0C-496D-A501-6DC41B4A6C1E}"/>
              </a:ext>
            </a:extLst>
          </p:cNvPr>
          <p:cNvSpPr>
            <a:spLocks noGrp="1"/>
          </p:cNvSpPr>
          <p:nvPr>
            <p:ph idx="1"/>
          </p:nvPr>
        </p:nvSpPr>
        <p:spPr>
          <a:xfrm>
            <a:off x="986083" y="1589405"/>
            <a:ext cx="10367717" cy="3716047"/>
          </a:xfrm>
        </p:spPr>
        <p:txBody>
          <a:bodyPr>
            <a:noAutofit/>
          </a:bodyPr>
          <a:lstStyle/>
          <a:p>
            <a:pPr>
              <a:buFont typeface="+mj-lt"/>
              <a:buAutoNum type="arabicPeriod"/>
            </a:pPr>
            <a:r>
              <a:rPr lang="en-US" sz="2400" b="1" dirty="0">
                <a:latin typeface="Times New Roman" panose="02020603050405020304" pitchFamily="18" charset="0"/>
                <a:cs typeface="Times New Roman" panose="02020603050405020304" pitchFamily="18" charset="0"/>
              </a:rPr>
              <a:t>NLP Integration</a:t>
            </a:r>
            <a:endParaRPr lang="en-US" sz="2400"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After text extraction, use Natural Language Processing to find important details like names, dates, and amounts.</a:t>
            </a:r>
          </a:p>
          <a:p>
            <a:pPr>
              <a:buFont typeface="+mj-lt"/>
              <a:buAutoNum type="arabicPeriod"/>
            </a:pPr>
            <a:r>
              <a:rPr lang="en-US" sz="2400" b="1" dirty="0">
                <a:latin typeface="Times New Roman" panose="02020603050405020304" pitchFamily="18" charset="0"/>
                <a:cs typeface="Times New Roman" panose="02020603050405020304" pitchFamily="18" charset="0"/>
              </a:rPr>
              <a:t>Document Classification</a:t>
            </a:r>
            <a:endParaRPr lang="en-US" sz="2400"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Automatically detect document types (e.g., invoice, receipt, form) based on the extracted data.</a:t>
            </a:r>
          </a:p>
          <a:p>
            <a:pPr>
              <a:buFont typeface="+mj-lt"/>
              <a:buAutoNum type="arabicPeriod"/>
            </a:pPr>
            <a:r>
              <a:rPr lang="en-US" sz="2400" b="1" dirty="0">
                <a:latin typeface="Times New Roman" panose="02020603050405020304" pitchFamily="18" charset="0"/>
                <a:cs typeface="Times New Roman" panose="02020603050405020304" pitchFamily="18" charset="0"/>
              </a:rPr>
              <a:t>Web Application Development</a:t>
            </a:r>
            <a:endParaRPr lang="en-US" sz="2400"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Build a simple website where users can upload documents and view extracted information easily.</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766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A7BE7-357A-CD09-B881-63EF34A6B7F2}"/>
              </a:ext>
            </a:extLst>
          </p:cNvPr>
          <p:cNvSpPr>
            <a:spLocks noGrp="1"/>
          </p:cNvSpPr>
          <p:nvPr>
            <p:ph type="ctrTitle"/>
          </p:nvPr>
        </p:nvSpPr>
        <p:spPr>
          <a:xfrm>
            <a:off x="1151642" y="741183"/>
            <a:ext cx="9888716" cy="5375633"/>
          </a:xfrm>
        </p:spPr>
        <p:txBody>
          <a:bodyPr>
            <a:noAutofit/>
          </a:bodyPr>
          <a:lstStyle/>
          <a:p>
            <a:pPr marL="84138" indent="-84138" algn="l">
              <a:lnSpc>
                <a:spcPct val="150000"/>
              </a:lnSpc>
            </a:pPr>
            <a:r>
              <a:rPr lang="en-US" sz="2400" b="1" dirty="0">
                <a:latin typeface="Times New Roman" panose="02020603050405020304" pitchFamily="18" charset="0"/>
                <a:cs typeface="Times New Roman" panose="02020603050405020304" pitchFamily="18" charset="0"/>
              </a:rPr>
              <a:t>4.Database Storage and Search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Store extracted data in a database and allow users to search by keywords like name, date, or invoice number.</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5.Automation Using AWS Lambda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Automatically process documents once they are uploaded, without manual work.</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6.Error Handling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Detect issues like blurry images or wrong formats and give user-friendly error messages.</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15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66433-6639-2EB3-9B54-92BD463CCB76}"/>
              </a:ext>
            </a:extLst>
          </p:cNvPr>
          <p:cNvSpPr>
            <a:spLocks noGrp="1"/>
          </p:cNvSpPr>
          <p:nvPr>
            <p:ph type="title"/>
          </p:nvPr>
        </p:nvSpPr>
        <p:spPr>
          <a:xfrm>
            <a:off x="466625" y="207389"/>
            <a:ext cx="11442357" cy="1257300"/>
          </a:xfrm>
        </p:spPr>
        <p:txBody>
          <a:bodyPr>
            <a:normAutofit/>
          </a:bodyPr>
          <a:lstStyle/>
          <a:p>
            <a:pPr algn="ctr"/>
            <a:r>
              <a:rPr lang="en-IN" sz="3200" b="1" dirty="0">
                <a:latin typeface="Times New Roman" panose="02020603050405020304" pitchFamily="18" charset="0"/>
                <a:cs typeface="Times New Roman" panose="02020603050405020304" pitchFamily="18" charset="0"/>
              </a:rPr>
              <a:t>BLOCK DIAGRAM</a:t>
            </a:r>
            <a:endParaRPr lang="en-US" sz="22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E39015D9-B199-9892-7C8C-B5C3BFF6E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825" y="1224895"/>
            <a:ext cx="10322350" cy="4408210"/>
          </a:xfrm>
          <a:prstGeom prst="rect">
            <a:avLst/>
          </a:prstGeom>
        </p:spPr>
      </p:pic>
    </p:spTree>
    <p:extLst>
      <p:ext uri="{BB962C8B-B14F-4D97-AF65-F5344CB8AC3E}">
        <p14:creationId xmlns:p14="http://schemas.microsoft.com/office/powerpoint/2010/main" val="2330665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211514"/>
            <a:ext cx="10648950" cy="1223010"/>
          </a:xfrm>
        </p:spPr>
        <p:txBody>
          <a:bodyPr>
            <a:normAutofit/>
          </a:bodyPr>
          <a:lstStyle/>
          <a:p>
            <a:pPr algn="ctr"/>
            <a:r>
              <a:rPr lang="en-IN" sz="3200" b="1" dirty="0">
                <a:latin typeface="Times New Roman" panose="02020603050405020304" pitchFamily="18" charset="0"/>
                <a:cs typeface="Times New Roman" panose="02020603050405020304" pitchFamily="18" charset="0"/>
              </a:rPr>
              <a:t>EXPECTED RESULTS</a:t>
            </a:r>
            <a:endParaRPr lang="en-US" sz="32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0F4FF151-4C3E-E9D5-2A54-4FB480064849}"/>
              </a:ext>
            </a:extLst>
          </p:cNvPr>
          <p:cNvSpPr>
            <a:spLocks noChangeArrowheads="1"/>
          </p:cNvSpPr>
          <p:nvPr/>
        </p:nvSpPr>
        <p:spPr bwMode="auto">
          <a:xfrm rot="10800000" flipV="1">
            <a:off x="1577841" y="1565262"/>
            <a:ext cx="903631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Extraction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11213" marR="0" lvl="0" indent="-811213" algn="just" defTabSz="914400" rtl="0" eaLnBrk="0" fontAlgn="base" latinLnBrk="0" hangingPunct="0">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AWS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Textract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will correctly extract text, tables, and form data from     scanned documents.</a:t>
            </a:r>
          </a:p>
          <a:p>
            <a:pPr marL="342900" marR="0" lvl="0" indent="-342900" algn="just" defTabSz="914400" rtl="0" eaLnBrk="0" fontAlgn="base" latinLnBrk="0" hangingPunct="0">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Manual Work</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Less human effort and fewer typing errors during data entry.</a:t>
            </a:r>
          </a:p>
          <a:p>
            <a:pPr marL="342900" marR="0" lvl="0" indent="-342900" algn="just" defTabSz="914400" rtl="0" eaLnBrk="0" fontAlgn="base" latinLnBrk="0" hangingPunct="0">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Document Processing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11213" marR="0" lvl="0" indent="-811213" algn="just" defTabSz="914400" rtl="0" eaLnBrk="0" fontAlgn="base" latinLnBrk="0" hangingPunct="0">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Documents processed within seconds compared to manual      methods.</a:t>
            </a:r>
          </a:p>
          <a:p>
            <a:pPr marL="342900" marR="0" lvl="0" indent="-342900" algn="just" defTabSz="914400" rtl="0" eaLnBrk="0" fontAlgn="base" latinLnBrk="0" hangingPunct="0">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Organized Data Storage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11213" marR="0" lvl="0" indent="-811213" algn="just" defTabSz="914400" rtl="0" eaLnBrk="0" fontAlgn="base" latinLnBrk="0" hangingPunct="0">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Extracted data will be neatly saved into a database for easy access.</a:t>
            </a:r>
          </a:p>
          <a:p>
            <a:pPr marL="342900" marR="0" lvl="0" indent="-342900" algn="just" defTabSz="914400" rtl="0" eaLnBrk="0" fontAlgn="base" latinLnBrk="0" hangingPunct="0">
              <a:spcBef>
                <a:spcPct val="0"/>
              </a:spcBef>
              <a:spcAft>
                <a:spcPct val="0"/>
              </a:spcAft>
              <a:buClrTx/>
              <a:buSzTx/>
              <a:buFont typeface="Wingdings" panose="05000000000000000000" pitchFamily="2" charset="2"/>
              <a:buChar char="ü"/>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467EB4AA-8A05-ECEE-D2DA-EF34E00AB13D}"/>
              </a:ext>
            </a:extLst>
          </p:cNvPr>
          <p:cNvSpPr>
            <a:spLocks noGrp="1"/>
          </p:cNvSpPr>
          <p:nvPr>
            <p:ph type="subTitle" idx="1"/>
          </p:nvPr>
        </p:nvSpPr>
        <p:spPr>
          <a:xfrm>
            <a:off x="1524000" y="1726653"/>
            <a:ext cx="9144000" cy="3404693"/>
          </a:xfrm>
        </p:spPr>
        <p:txBody>
          <a:bodyPr/>
          <a:lstStyle/>
          <a:p>
            <a:endParaRPr lang="en-IN" dirty="0"/>
          </a:p>
          <a:p>
            <a:r>
              <a:rPr lang="en-IN" sz="3200" b="1" dirty="0">
                <a:latin typeface="Times New Roman" panose="02020603050405020304" pitchFamily="18" charset="0"/>
                <a:cs typeface="Times New Roman" panose="02020603050405020304" pitchFamily="18" charset="0"/>
              </a:rPr>
              <a:t>THANK YOU </a:t>
            </a:r>
          </a:p>
          <a:p>
            <a:r>
              <a:rPr lang="en-IN" sz="3200" b="1" dirty="0">
                <a:latin typeface="Times New Roman" panose="02020603050405020304" pitchFamily="18" charset="0"/>
                <a:cs typeface="Times New Roman" panose="02020603050405020304" pitchFamily="18" charset="0"/>
              </a:rPr>
              <a:t>ANY QUERIES/SUGGESTIONS? </a:t>
            </a:r>
          </a:p>
          <a:p>
            <a:endParaRPr lang="en-IN" sz="6000" dirty="0">
              <a:latin typeface="Times New Roman" panose="02020603050405020304" pitchFamily="18" charset="0"/>
              <a:cs typeface="Times New Roman" panose="02020603050405020304" pitchFamily="18" charset="0"/>
            </a:endParaRPr>
          </a:p>
          <a:p>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825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9768</TotalTime>
  <Words>684</Words>
  <Application>Microsoft Office PowerPoint</Application>
  <PresentationFormat>Widescreen</PresentationFormat>
  <Paragraphs>97</Paragraphs>
  <Slides>12</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Calibri</vt:lpstr>
      <vt:lpstr>Calibri Light</vt:lpstr>
      <vt:lpstr>Courier New</vt:lpstr>
      <vt:lpstr>Times New Roman</vt:lpstr>
      <vt:lpstr>Wingdings</vt:lpstr>
      <vt:lpstr>Office Theme</vt:lpstr>
      <vt:lpstr>PowerPoint Presentation</vt:lpstr>
      <vt:lpstr>OUTLINE</vt:lpstr>
      <vt:lpstr>INTRODUCTION</vt:lpstr>
      <vt:lpstr> OBJECTIVES</vt:lpstr>
      <vt:lpstr>PROBLEM IDENTIFICATION AREAS</vt:lpstr>
      <vt:lpstr>LITERATURE SURVEY</vt:lpstr>
      <vt:lpstr>PowerPoint Presentation</vt:lpstr>
      <vt:lpstr> FURTHER DEVELOPMENT OF RESEARCH WORK </vt:lpstr>
      <vt:lpstr>4.Database Storage and Search Store extracted data in a database and allow users to search by keywords like name, date, or invoice number. 5.Automation Using AWS Lambda Automatically process documents once they are uploaded, without manual work. 6.Error Handling Detect issues like blurry images or wrong formats and give user-friendly error messages. </vt:lpstr>
      <vt:lpstr>BLOCK DIAGRAM</vt:lpstr>
      <vt:lpstr>EXPECTED RESULTS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Examination</dc:title>
  <dc:creator>Prateek Prakash</dc:creator>
  <cp:lastModifiedBy>Avinash Kattagani</cp:lastModifiedBy>
  <cp:revision>423</cp:revision>
  <dcterms:created xsi:type="dcterms:W3CDTF">2020-07-26T14:02:12Z</dcterms:created>
  <dcterms:modified xsi:type="dcterms:W3CDTF">2025-04-27T18:45:18Z</dcterms:modified>
</cp:coreProperties>
</file>